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304" r:id="rId2"/>
    <p:sldId id="306" r:id="rId3"/>
    <p:sldId id="274" r:id="rId4"/>
    <p:sldId id="258" r:id="rId5"/>
    <p:sldId id="259" r:id="rId6"/>
    <p:sldId id="273" r:id="rId7"/>
    <p:sldId id="261" r:id="rId8"/>
    <p:sldId id="337" r:id="rId9"/>
    <p:sldId id="262" r:id="rId10"/>
    <p:sldId id="264" r:id="rId11"/>
    <p:sldId id="329" r:id="rId12"/>
    <p:sldId id="331" r:id="rId13"/>
    <p:sldId id="336" r:id="rId14"/>
    <p:sldId id="330" r:id="rId15"/>
    <p:sldId id="266" r:id="rId16"/>
    <p:sldId id="32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0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ITHA CHAMARTY" initials="AC"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33" autoAdjust="0"/>
    <p:restoredTop sz="94660"/>
  </p:normalViewPr>
  <p:slideViewPr>
    <p:cSldViewPr snapToGrid="0" showGuides="1">
      <p:cViewPr varScale="1">
        <p:scale>
          <a:sx n="89" d="100"/>
          <a:sy n="89" d="100"/>
        </p:scale>
        <p:origin x="192" y="776"/>
      </p:cViewPr>
      <p:guideLst>
        <p:guide orient="horz" pos="2160"/>
        <p:guide pos="380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29930F-7491-4214-BBA6-BFE0EFE41E51}" type="datetimeFigureOut">
              <a:rPr lang="en-IN" smtClean="0"/>
              <a:t>23/12/25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3DE032-9E50-430D-BDC9-99BDC19BBD3B}"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9baafe93df_0_5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95" name="Google Shape;295;g9baafe93df_0_5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E2F2D7B-D773-4ED0-BE54-32522D55CDE8}" type="datetime1">
              <a:rPr lang="en-US" smtClean="0"/>
              <a:t>12/23/25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6F759B-17F6-481A-A04B-C07C07ECA02A}" type="datetime1">
              <a:rPr lang="en-US" smtClean="0"/>
              <a:t>12/23/25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AE064F-4BF9-4349-8B8A-77820F2A0EAB}" type="datetime1">
              <a:rPr lang="en-US" smtClean="0"/>
              <a:t>12/23/25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50D3F5-AFAB-4724-9492-1EECCE5D93BF}" type="datetime1">
              <a:rPr lang="en-US" smtClean="0"/>
              <a:t>12/23/25</a:t>
            </a:fld>
            <a:endParaRPr lang="en-US"/>
          </a:p>
        </p:txBody>
      </p:sp>
      <p:sp>
        <p:nvSpPr>
          <p:cNvPr id="6" name="Footer Placeholder 5"/>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4D68E2-FDE3-4757-94DF-0E4173DB1B32}" type="datetime1">
              <a:rPr lang="en-US" smtClean="0"/>
              <a:t>12/23/25</a:t>
            </a:fld>
            <a:endParaRPr lang="en-US"/>
          </a:p>
        </p:txBody>
      </p:sp>
      <p:sp>
        <p:nvSpPr>
          <p:cNvPr id="8" name="Footer Placeholder 7"/>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DE3F93-DEBD-468C-91AC-0B356E08C089}" type="datetime1">
              <a:rPr lang="en-US" smtClean="0"/>
              <a:t>12/23/25</a:t>
            </a:fld>
            <a:endParaRPr lang="en-US"/>
          </a:p>
        </p:txBody>
      </p:sp>
      <p:sp>
        <p:nvSpPr>
          <p:cNvPr id="4" name="Footer Placeholder 3"/>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54DC5C-CB8B-4C7D-A34E-085F8479280E}" type="datetime1">
              <a:rPr lang="en-US" smtClean="0"/>
              <a:t>12/23/25</a:t>
            </a:fld>
            <a:endParaRPr lang="en-US"/>
          </a:p>
        </p:txBody>
      </p:sp>
      <p:sp>
        <p:nvSpPr>
          <p:cNvPr id="3" name="Footer Placeholder 2"/>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902B45-BAFD-4AB3-AE86-857E2928109F}" type="datetime1">
              <a:rPr lang="en-US" smtClean="0"/>
              <a:t>12/23/25</a:t>
            </a:fld>
            <a:endParaRPr lang="en-US"/>
          </a:p>
        </p:txBody>
      </p:sp>
      <p:sp>
        <p:nvSpPr>
          <p:cNvPr id="6" name="Footer Placeholder 5"/>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916C8B-CC7F-48F0-A5DC-75EA44DE957D}" type="datetime1">
              <a:rPr lang="en-US" smtClean="0"/>
              <a:t>12/23/25</a:t>
            </a:fld>
            <a:endParaRPr lang="en-US"/>
          </a:p>
        </p:txBody>
      </p:sp>
      <p:sp>
        <p:nvSpPr>
          <p:cNvPr id="6" name="Footer Placeholder 5"/>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692CA4-2F8E-4BFD-9C36-2D25E1FB63DC}" type="datetime1">
              <a:rPr lang="en-US" smtClean="0"/>
              <a:t>12/23/25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785C7D-EA61-4341-9B35-108C251A0ECA}" type="datetime1">
              <a:rPr lang="en-US" smtClean="0"/>
              <a:t>12/23/25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bg>
      <p:bgPr>
        <a:blipFill>
          <a:blip r:embed="rId2"/>
          <a:stretch>
            <a:fillRect/>
          </a:stretch>
        </a:blipFill>
        <a:effectLst/>
      </p:bgPr>
    </p:bg>
    <p:spTree>
      <p:nvGrpSpPr>
        <p:cNvPr id="1" name="Shape 87"/>
        <p:cNvGrpSpPr/>
        <p:nvPr/>
      </p:nvGrpSpPr>
      <p:grpSpPr>
        <a:xfrm>
          <a:off x="0" y="0"/>
          <a:ext cx="0" cy="0"/>
          <a:chOff x="0" y="0"/>
          <a:chExt cx="0" cy="0"/>
        </a:xfrm>
      </p:grpSpPr>
      <p:sp>
        <p:nvSpPr>
          <p:cNvPr id="88" name="Google Shape;88;p20"/>
          <p:cNvSpPr txBox="1">
            <a:spLocks noGrp="1"/>
          </p:cNvSpPr>
          <p:nvPr>
            <p:ph type="ctrTitle"/>
          </p:nvPr>
        </p:nvSpPr>
        <p:spPr>
          <a:xfrm>
            <a:off x="7488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89" name="Google Shape;89;p20"/>
          <p:cNvSpPr txBox="1">
            <a:spLocks noGrp="1"/>
          </p:cNvSpPr>
          <p:nvPr>
            <p:ph type="subTitle" idx="1"/>
          </p:nvPr>
        </p:nvSpPr>
        <p:spPr>
          <a:xfrm>
            <a:off x="1163267" y="4120633"/>
            <a:ext cx="27360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5">
                <a:solidFill>
                  <a:srgbClr val="000000"/>
                </a:solidFill>
              </a:defRPr>
            </a:lvl1pPr>
            <a:lvl2pPr lvl="1" rtl="0">
              <a:lnSpc>
                <a:spcPct val="100000"/>
              </a:lnSpc>
              <a:spcBef>
                <a:spcPts val="0"/>
              </a:spcBef>
              <a:spcAft>
                <a:spcPts val="0"/>
              </a:spcAft>
              <a:buSzPts val="1100"/>
              <a:buNone/>
              <a:defRPr sz="1465"/>
            </a:lvl2pPr>
            <a:lvl3pPr lvl="2" rtl="0">
              <a:lnSpc>
                <a:spcPct val="100000"/>
              </a:lnSpc>
              <a:spcBef>
                <a:spcPts val="0"/>
              </a:spcBef>
              <a:spcAft>
                <a:spcPts val="0"/>
              </a:spcAft>
              <a:buSzPts val="1100"/>
              <a:buNone/>
              <a:defRPr sz="1465"/>
            </a:lvl3pPr>
            <a:lvl4pPr lvl="3" rtl="0">
              <a:lnSpc>
                <a:spcPct val="100000"/>
              </a:lnSpc>
              <a:spcBef>
                <a:spcPts val="0"/>
              </a:spcBef>
              <a:spcAft>
                <a:spcPts val="0"/>
              </a:spcAft>
              <a:buSzPts val="1100"/>
              <a:buNone/>
              <a:defRPr sz="1465"/>
            </a:lvl4pPr>
            <a:lvl5pPr lvl="4" rtl="0">
              <a:lnSpc>
                <a:spcPct val="100000"/>
              </a:lnSpc>
              <a:spcBef>
                <a:spcPts val="0"/>
              </a:spcBef>
              <a:spcAft>
                <a:spcPts val="0"/>
              </a:spcAft>
              <a:buSzPts val="1100"/>
              <a:buNone/>
              <a:defRPr sz="1465"/>
            </a:lvl5pPr>
            <a:lvl6pPr lvl="5" rtl="0">
              <a:lnSpc>
                <a:spcPct val="100000"/>
              </a:lnSpc>
              <a:spcBef>
                <a:spcPts val="0"/>
              </a:spcBef>
              <a:spcAft>
                <a:spcPts val="0"/>
              </a:spcAft>
              <a:buSzPts val="1100"/>
              <a:buNone/>
              <a:defRPr sz="1465"/>
            </a:lvl6pPr>
            <a:lvl7pPr lvl="6" rtl="0">
              <a:lnSpc>
                <a:spcPct val="100000"/>
              </a:lnSpc>
              <a:spcBef>
                <a:spcPts val="0"/>
              </a:spcBef>
              <a:spcAft>
                <a:spcPts val="0"/>
              </a:spcAft>
              <a:buSzPts val="1100"/>
              <a:buNone/>
              <a:defRPr sz="1465"/>
            </a:lvl7pPr>
            <a:lvl8pPr lvl="7" rtl="0">
              <a:lnSpc>
                <a:spcPct val="100000"/>
              </a:lnSpc>
              <a:spcBef>
                <a:spcPts val="0"/>
              </a:spcBef>
              <a:spcAft>
                <a:spcPts val="0"/>
              </a:spcAft>
              <a:buSzPts val="1100"/>
              <a:buNone/>
              <a:defRPr sz="1465"/>
            </a:lvl8pPr>
            <a:lvl9pPr lvl="8" rtl="0">
              <a:lnSpc>
                <a:spcPct val="100000"/>
              </a:lnSpc>
              <a:spcBef>
                <a:spcPts val="0"/>
              </a:spcBef>
              <a:spcAft>
                <a:spcPts val="0"/>
              </a:spcAft>
              <a:buSzPts val="1100"/>
              <a:buNone/>
              <a:defRPr sz="1465"/>
            </a:lvl9pPr>
          </a:lstStyle>
          <a:p>
            <a:endParaRPr/>
          </a:p>
        </p:txBody>
      </p:sp>
      <p:sp>
        <p:nvSpPr>
          <p:cNvPr id="90" name="Google Shape;90;p20"/>
          <p:cNvSpPr txBox="1">
            <a:spLocks noGrp="1"/>
          </p:cNvSpPr>
          <p:nvPr>
            <p:ph type="ctrTitle" idx="2"/>
          </p:nvPr>
        </p:nvSpPr>
        <p:spPr>
          <a:xfrm>
            <a:off x="43136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91" name="Google Shape;91;p20"/>
          <p:cNvSpPr txBox="1">
            <a:spLocks noGrp="1"/>
          </p:cNvSpPr>
          <p:nvPr>
            <p:ph type="subTitle" idx="3"/>
          </p:nvPr>
        </p:nvSpPr>
        <p:spPr>
          <a:xfrm>
            <a:off x="4617200" y="2715667"/>
            <a:ext cx="29576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5">
                <a:solidFill>
                  <a:srgbClr val="000000"/>
                </a:solidFill>
              </a:defRPr>
            </a:lvl1pPr>
            <a:lvl2pPr lvl="1" rtl="0">
              <a:lnSpc>
                <a:spcPct val="100000"/>
              </a:lnSpc>
              <a:spcBef>
                <a:spcPts val="0"/>
              </a:spcBef>
              <a:spcAft>
                <a:spcPts val="0"/>
              </a:spcAft>
              <a:buSzPts val="1100"/>
              <a:buNone/>
              <a:defRPr sz="1465"/>
            </a:lvl2pPr>
            <a:lvl3pPr lvl="2" rtl="0">
              <a:lnSpc>
                <a:spcPct val="100000"/>
              </a:lnSpc>
              <a:spcBef>
                <a:spcPts val="0"/>
              </a:spcBef>
              <a:spcAft>
                <a:spcPts val="0"/>
              </a:spcAft>
              <a:buSzPts val="1100"/>
              <a:buNone/>
              <a:defRPr sz="1465"/>
            </a:lvl3pPr>
            <a:lvl4pPr lvl="3" rtl="0">
              <a:lnSpc>
                <a:spcPct val="100000"/>
              </a:lnSpc>
              <a:spcBef>
                <a:spcPts val="0"/>
              </a:spcBef>
              <a:spcAft>
                <a:spcPts val="0"/>
              </a:spcAft>
              <a:buSzPts val="1100"/>
              <a:buNone/>
              <a:defRPr sz="1465"/>
            </a:lvl4pPr>
            <a:lvl5pPr lvl="4" rtl="0">
              <a:lnSpc>
                <a:spcPct val="100000"/>
              </a:lnSpc>
              <a:spcBef>
                <a:spcPts val="0"/>
              </a:spcBef>
              <a:spcAft>
                <a:spcPts val="0"/>
              </a:spcAft>
              <a:buSzPts val="1100"/>
              <a:buNone/>
              <a:defRPr sz="1465"/>
            </a:lvl5pPr>
            <a:lvl6pPr lvl="5" rtl="0">
              <a:lnSpc>
                <a:spcPct val="100000"/>
              </a:lnSpc>
              <a:spcBef>
                <a:spcPts val="0"/>
              </a:spcBef>
              <a:spcAft>
                <a:spcPts val="0"/>
              </a:spcAft>
              <a:buSzPts val="1100"/>
              <a:buNone/>
              <a:defRPr sz="1465"/>
            </a:lvl6pPr>
            <a:lvl7pPr lvl="6" rtl="0">
              <a:lnSpc>
                <a:spcPct val="100000"/>
              </a:lnSpc>
              <a:spcBef>
                <a:spcPts val="0"/>
              </a:spcBef>
              <a:spcAft>
                <a:spcPts val="0"/>
              </a:spcAft>
              <a:buSzPts val="1100"/>
              <a:buNone/>
              <a:defRPr sz="1465"/>
            </a:lvl7pPr>
            <a:lvl8pPr lvl="7" rtl="0">
              <a:lnSpc>
                <a:spcPct val="100000"/>
              </a:lnSpc>
              <a:spcBef>
                <a:spcPts val="0"/>
              </a:spcBef>
              <a:spcAft>
                <a:spcPts val="0"/>
              </a:spcAft>
              <a:buSzPts val="1100"/>
              <a:buNone/>
              <a:defRPr sz="1465"/>
            </a:lvl8pPr>
            <a:lvl9pPr lvl="8" rtl="0">
              <a:lnSpc>
                <a:spcPct val="100000"/>
              </a:lnSpc>
              <a:spcBef>
                <a:spcPts val="0"/>
              </a:spcBef>
              <a:spcAft>
                <a:spcPts val="0"/>
              </a:spcAft>
              <a:buSzPts val="1100"/>
              <a:buNone/>
              <a:defRPr sz="1465"/>
            </a:lvl9pPr>
          </a:lstStyle>
          <a:p>
            <a:endParaRPr/>
          </a:p>
        </p:txBody>
      </p:sp>
      <p:sp>
        <p:nvSpPr>
          <p:cNvPr id="92" name="Google Shape;92;p20"/>
          <p:cNvSpPr txBox="1">
            <a:spLocks noGrp="1"/>
          </p:cNvSpPr>
          <p:nvPr>
            <p:ph type="ctrTitle" idx="4"/>
          </p:nvPr>
        </p:nvSpPr>
        <p:spPr>
          <a:xfrm>
            <a:off x="78784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93" name="Google Shape;93;p20"/>
          <p:cNvSpPr txBox="1">
            <a:spLocks noGrp="1"/>
          </p:cNvSpPr>
          <p:nvPr>
            <p:ph type="subTitle" idx="5"/>
          </p:nvPr>
        </p:nvSpPr>
        <p:spPr>
          <a:xfrm>
            <a:off x="8182000" y="4120633"/>
            <a:ext cx="29576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5">
                <a:solidFill>
                  <a:srgbClr val="000000"/>
                </a:solidFill>
              </a:defRPr>
            </a:lvl1pPr>
            <a:lvl2pPr lvl="1" rtl="0">
              <a:lnSpc>
                <a:spcPct val="100000"/>
              </a:lnSpc>
              <a:spcBef>
                <a:spcPts val="0"/>
              </a:spcBef>
              <a:spcAft>
                <a:spcPts val="0"/>
              </a:spcAft>
              <a:buSzPts val="1100"/>
              <a:buNone/>
              <a:defRPr sz="1465"/>
            </a:lvl2pPr>
            <a:lvl3pPr lvl="2" rtl="0">
              <a:lnSpc>
                <a:spcPct val="100000"/>
              </a:lnSpc>
              <a:spcBef>
                <a:spcPts val="0"/>
              </a:spcBef>
              <a:spcAft>
                <a:spcPts val="0"/>
              </a:spcAft>
              <a:buSzPts val="1100"/>
              <a:buNone/>
              <a:defRPr sz="1465"/>
            </a:lvl3pPr>
            <a:lvl4pPr lvl="3" rtl="0">
              <a:lnSpc>
                <a:spcPct val="100000"/>
              </a:lnSpc>
              <a:spcBef>
                <a:spcPts val="0"/>
              </a:spcBef>
              <a:spcAft>
                <a:spcPts val="0"/>
              </a:spcAft>
              <a:buSzPts val="1100"/>
              <a:buNone/>
              <a:defRPr sz="1465"/>
            </a:lvl4pPr>
            <a:lvl5pPr lvl="4" rtl="0">
              <a:lnSpc>
                <a:spcPct val="100000"/>
              </a:lnSpc>
              <a:spcBef>
                <a:spcPts val="0"/>
              </a:spcBef>
              <a:spcAft>
                <a:spcPts val="0"/>
              </a:spcAft>
              <a:buSzPts val="1100"/>
              <a:buNone/>
              <a:defRPr sz="1465"/>
            </a:lvl5pPr>
            <a:lvl6pPr lvl="5" rtl="0">
              <a:lnSpc>
                <a:spcPct val="100000"/>
              </a:lnSpc>
              <a:spcBef>
                <a:spcPts val="0"/>
              </a:spcBef>
              <a:spcAft>
                <a:spcPts val="0"/>
              </a:spcAft>
              <a:buSzPts val="1100"/>
              <a:buNone/>
              <a:defRPr sz="1465"/>
            </a:lvl6pPr>
            <a:lvl7pPr lvl="6" rtl="0">
              <a:lnSpc>
                <a:spcPct val="100000"/>
              </a:lnSpc>
              <a:spcBef>
                <a:spcPts val="0"/>
              </a:spcBef>
              <a:spcAft>
                <a:spcPts val="0"/>
              </a:spcAft>
              <a:buSzPts val="1100"/>
              <a:buNone/>
              <a:defRPr sz="1465"/>
            </a:lvl7pPr>
            <a:lvl8pPr lvl="7" rtl="0">
              <a:lnSpc>
                <a:spcPct val="100000"/>
              </a:lnSpc>
              <a:spcBef>
                <a:spcPts val="0"/>
              </a:spcBef>
              <a:spcAft>
                <a:spcPts val="0"/>
              </a:spcAft>
              <a:buSzPts val="1100"/>
              <a:buNone/>
              <a:defRPr sz="1465"/>
            </a:lvl8pPr>
            <a:lvl9pPr lvl="8" rtl="0">
              <a:lnSpc>
                <a:spcPct val="100000"/>
              </a:lnSpc>
              <a:spcBef>
                <a:spcPts val="0"/>
              </a:spcBef>
              <a:spcAft>
                <a:spcPts val="0"/>
              </a:spcAft>
              <a:buSzPts val="1100"/>
              <a:buNone/>
              <a:defRPr sz="1465"/>
            </a:lvl9pPr>
          </a:lstStyle>
          <a:p>
            <a:endParaRPr/>
          </a:p>
        </p:txBody>
      </p:sp>
      <p:sp>
        <p:nvSpPr>
          <p:cNvPr id="94" name="Google Shape;94;p20"/>
          <p:cNvSpPr txBox="1">
            <a:spLocks noGrp="1"/>
          </p:cNvSpPr>
          <p:nvPr>
            <p:ph type="ctrTitle" idx="6"/>
          </p:nvPr>
        </p:nvSpPr>
        <p:spPr>
          <a:xfrm>
            <a:off x="2619801" y="470467"/>
            <a:ext cx="6952400" cy="126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F4E0C5-4D14-4397-B5F9-82BA6DFA1179}" type="datetime1">
              <a:rPr lang="en-US" smtClean="0"/>
              <a:t>12/23/25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s://skilldzire.com/" TargetMode="External"/><Relationship Id="rId2" Type="http://schemas.openxmlformats.org/officeDocument/2006/relationships/hyperlink" Target="https://en.wikipedia.org/wiki/Cyberbullying" TargetMode="External"/><Relationship Id="rId1" Type="http://schemas.openxmlformats.org/officeDocument/2006/relationships/slideLayout" Target="../slideLayouts/slideLayout2.xml"/><Relationship Id="rId5" Type="http://schemas.openxmlformats.org/officeDocument/2006/relationships/hyperlink" Target="https://www.tutorialspoint.com/" TargetMode="External"/><Relationship Id="rId4" Type="http://schemas.openxmlformats.org/officeDocument/2006/relationships/hyperlink" Target="https://scikit-learn.or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Shape 296"/>
        <p:cNvGrpSpPr/>
        <p:nvPr/>
      </p:nvGrpSpPr>
      <p:grpSpPr>
        <a:xfrm>
          <a:off x="0" y="0"/>
          <a:ext cx="0" cy="0"/>
          <a:chOff x="0" y="0"/>
          <a:chExt cx="0" cy="0"/>
        </a:xfrm>
      </p:grpSpPr>
      <p:sp>
        <p:nvSpPr>
          <p:cNvPr id="297" name="Google Shape;297;p43"/>
          <p:cNvSpPr txBox="1">
            <a:spLocks noGrp="1"/>
          </p:cNvSpPr>
          <p:nvPr>
            <p:ph type="ctrTitle"/>
          </p:nvPr>
        </p:nvSpPr>
        <p:spPr>
          <a:xfrm>
            <a:off x="846665" y="238648"/>
            <a:ext cx="10498665" cy="1261600"/>
          </a:xfrm>
          <a:prstGeom prst="rect">
            <a:avLst/>
          </a:prstGeom>
        </p:spPr>
        <p:txBody>
          <a:bodyPr spcFirstLastPara="1" wrap="square" lIns="121900" tIns="121900" rIns="121900" bIns="121900" anchor="t" anchorCtr="0">
            <a:noAutofit/>
          </a:bodyPr>
          <a:lstStyle/>
          <a:p>
            <a:br>
              <a:rPr lang="en-IN" dirty="0">
                <a:latin typeface="Times New Roman" panose="02020603050405020304" pitchFamily="18" charset="0"/>
                <a:cs typeface="Times New Roman" panose="02020603050405020304" pitchFamily="18" charset="0"/>
              </a:rPr>
            </a:br>
            <a:endParaRPr dirty="0"/>
          </a:p>
        </p:txBody>
      </p:sp>
      <p:sp>
        <p:nvSpPr>
          <p:cNvPr id="5" name="Subtitle 4"/>
          <p:cNvSpPr>
            <a:spLocks noGrp="1"/>
          </p:cNvSpPr>
          <p:nvPr>
            <p:ph type="subTitle" idx="3"/>
          </p:nvPr>
        </p:nvSpPr>
        <p:spPr>
          <a:xfrm>
            <a:off x="575039" y="2431619"/>
            <a:ext cx="3765973" cy="1656796"/>
          </a:xfrm>
        </p:spPr>
        <p:txBody>
          <a:bodyPr/>
          <a:lstStyle/>
          <a:p>
            <a:pPr marL="0" indent="0" algn="l" defTabSz="1219200">
              <a:lnSpc>
                <a:spcPct val="150000"/>
              </a:lnSpc>
              <a:buClr>
                <a:srgbClr val="000000"/>
              </a:buClr>
              <a:buSzTx/>
              <a:defRPr/>
            </a:pPr>
            <a:r>
              <a:rPr lang="en-IN" sz="2000" b="1" u="sng" dirty="0">
                <a:latin typeface="Times New Roman" panose="02020603050405020304" pitchFamily="18" charset="0"/>
                <a:cs typeface="Times New Roman" panose="02020603050405020304" pitchFamily="18" charset="0"/>
                <a:sym typeface="Arial" panose="020B0604020202020204"/>
              </a:rPr>
              <a:t>Internship Member</a:t>
            </a:r>
          </a:p>
          <a:p>
            <a:pPr marL="0" indent="0" algn="l" defTabSz="1219200">
              <a:buClr>
                <a:srgbClr val="000000"/>
              </a:buClr>
              <a:buSzTx/>
              <a:defRPr/>
            </a:pPr>
            <a:r>
              <a:rPr lang="en-US" sz="1800" dirty="0">
                <a:latin typeface="Times New Roman" panose="02020603050405020304" pitchFamily="18" charset="0"/>
                <a:cs typeface="Times New Roman" panose="02020603050405020304" pitchFamily="18" charset="0"/>
              </a:rPr>
              <a:t>Kanda Roopadevi(</a:t>
            </a:r>
            <a:r>
              <a:rPr lang="en-IN" altLang="en-US" sz="1800" dirty="0">
                <a:latin typeface="Times New Roman" panose="02020603050405020304" pitchFamily="18" charset="0"/>
                <a:cs typeface="Times New Roman" panose="02020603050405020304" pitchFamily="18" charset="0"/>
              </a:rPr>
              <a:t>323103210099</a:t>
            </a:r>
            <a:r>
              <a:rPr lang="en-US" sz="1800" dirty="0">
                <a:latin typeface="Times New Roman" panose="02020603050405020304" pitchFamily="18" charset="0"/>
                <a:cs typeface="Times New Roman" panose="02020603050405020304" pitchFamily="18" charset="0"/>
              </a:rPr>
              <a:t>) </a:t>
            </a:r>
          </a:p>
          <a:p>
            <a:pPr marL="0" indent="0" algn="l" defTabSz="1219200">
              <a:buClr>
                <a:srgbClr val="000000"/>
              </a:buClr>
              <a:buSzTx/>
              <a:defRPr/>
            </a:pPr>
            <a:endParaRPr lang="en-US" sz="1865" dirty="0"/>
          </a:p>
          <a:p>
            <a:pPr algn="l"/>
            <a:endParaRPr lang="en-IN" dirty="0"/>
          </a:p>
        </p:txBody>
      </p:sp>
      <p:sp>
        <p:nvSpPr>
          <p:cNvPr id="25" name="TextBox 24"/>
          <p:cNvSpPr txBox="1"/>
          <p:nvPr/>
        </p:nvSpPr>
        <p:spPr>
          <a:xfrm>
            <a:off x="1847165" y="5253048"/>
            <a:ext cx="8912000" cy="379656"/>
          </a:xfrm>
          <a:prstGeom prst="rect">
            <a:avLst/>
          </a:prstGeom>
          <a:noFill/>
        </p:spPr>
        <p:txBody>
          <a:bodyPr wrap="square">
            <a:spAutoFit/>
          </a:bodyPr>
          <a:lstStyle/>
          <a:p>
            <a:pPr algn="ctr" defTabSz="1219200">
              <a:buClr>
                <a:srgbClr val="000000"/>
              </a:buClr>
            </a:pPr>
            <a:endParaRPr lang="en-IN" sz="1865" kern="0" dirty="0">
              <a:solidFill>
                <a:srgbClr val="000000"/>
              </a:solidFill>
              <a:latin typeface="Arial" panose="020B0604020202020204"/>
              <a:cs typeface="Arial" panose="020B0604020202020204"/>
              <a:sym typeface="Arial" panose="020B0604020202020204"/>
            </a:endParaRPr>
          </a:p>
        </p:txBody>
      </p:sp>
      <p:sp>
        <p:nvSpPr>
          <p:cNvPr id="3" name="TextBox 2"/>
          <p:cNvSpPr txBox="1"/>
          <p:nvPr/>
        </p:nvSpPr>
        <p:spPr>
          <a:xfrm>
            <a:off x="8407203" y="2203772"/>
            <a:ext cx="3111788" cy="1799590"/>
          </a:xfrm>
          <a:prstGeom prst="rect">
            <a:avLst/>
          </a:prstGeom>
          <a:noFill/>
        </p:spPr>
        <p:txBody>
          <a:bodyPr wrap="square">
            <a:spAutoFit/>
          </a:bodyPr>
          <a:lstStyle/>
          <a:p>
            <a:pPr algn="ctr" defTabSz="1219200">
              <a:lnSpc>
                <a:spcPct val="150000"/>
              </a:lnSpc>
              <a:buClr>
                <a:srgbClr val="000000"/>
              </a:buClr>
            </a:pPr>
            <a:r>
              <a:rPr lang="en-IN" sz="2000" b="1" u="sng" kern="0" dirty="0">
                <a:solidFill>
                  <a:srgbClr val="000000"/>
                </a:solidFill>
                <a:latin typeface="Times New Roman" panose="02020603050405020304" pitchFamily="18" charset="0"/>
                <a:cs typeface="Times New Roman" panose="02020603050405020304" pitchFamily="18" charset="0"/>
                <a:sym typeface="Arial" panose="020B0604020202020204"/>
              </a:rPr>
              <a:t>Internship Mentor</a:t>
            </a:r>
          </a:p>
          <a:p>
            <a:pPr algn="ctr" defTabSz="1219200">
              <a:lnSpc>
                <a:spcPct val="150000"/>
              </a:lnSpc>
              <a:buClr>
                <a:srgbClr val="000000"/>
              </a:buClr>
            </a:pPr>
            <a:r>
              <a:rPr lang="en-US" altLang="en-US" dirty="0">
                <a:latin typeface="Times New Roman" panose="02020603050405020304" pitchFamily="18" charset="0"/>
                <a:ea typeface="+mn-lt"/>
                <a:cs typeface="Times New Roman" panose="02020603050405020304" pitchFamily="18" charset="0"/>
              </a:rPr>
              <a:t>Mrs. D. Indu</a:t>
            </a:r>
            <a:endParaRPr lang="en-US" dirty="0">
              <a:latin typeface="Times New Roman" panose="02020603050405020304" pitchFamily="18" charset="0"/>
              <a:ea typeface="+mn-lt"/>
              <a:cs typeface="Times New Roman" panose="02020603050405020304" pitchFamily="18" charset="0"/>
            </a:endParaRPr>
          </a:p>
          <a:p>
            <a:pPr algn="ctr" defTabSz="1219200">
              <a:lnSpc>
                <a:spcPct val="150000"/>
              </a:lnSpc>
              <a:buClr>
                <a:srgbClr val="000000"/>
              </a:buClr>
            </a:pPr>
            <a:r>
              <a:rPr lang="en-US" dirty="0">
                <a:latin typeface="Times New Roman" panose="02020603050405020304" pitchFamily="18" charset="0"/>
                <a:ea typeface="+mn-lt"/>
                <a:cs typeface="Times New Roman" panose="02020603050405020304" pitchFamily="18" charset="0"/>
              </a:rPr>
              <a:t>Assistant Professor</a:t>
            </a:r>
          </a:p>
          <a:p>
            <a:pPr algn="ctr" defTabSz="1219200">
              <a:lnSpc>
                <a:spcPct val="150000"/>
              </a:lnSpc>
              <a:buClr>
                <a:srgbClr val="000000"/>
              </a:buClr>
            </a:pPr>
            <a:r>
              <a:rPr lang="en-US" dirty="0">
                <a:latin typeface="Times New Roman" panose="02020603050405020304" pitchFamily="18" charset="0"/>
                <a:ea typeface="+mn-lt"/>
                <a:cs typeface="Times New Roman" panose="02020603050405020304" pitchFamily="18" charset="0"/>
              </a:rPr>
              <a:t>CSE Department</a:t>
            </a:r>
          </a:p>
        </p:txBody>
      </p:sp>
      <p:sp>
        <p:nvSpPr>
          <p:cNvPr id="7" name="TextBox 6"/>
          <p:cNvSpPr txBox="1"/>
          <p:nvPr/>
        </p:nvSpPr>
        <p:spPr>
          <a:xfrm>
            <a:off x="3255165" y="4634101"/>
            <a:ext cx="6096000" cy="666977"/>
          </a:xfrm>
          <a:prstGeom prst="rect">
            <a:avLst/>
          </a:prstGeom>
          <a:noFill/>
        </p:spPr>
        <p:txBody>
          <a:bodyPr wrap="square">
            <a:spAutoFit/>
          </a:bodyPr>
          <a:lstStyle/>
          <a:p>
            <a:pPr algn="ctr" defTabSz="1219200">
              <a:buClr>
                <a:srgbClr val="000000"/>
              </a:buClr>
            </a:pPr>
            <a:r>
              <a:rPr lang="en-US" sz="1865" b="1" kern="0" dirty="0">
                <a:solidFill>
                  <a:srgbClr val="000000"/>
                </a:solidFill>
                <a:latin typeface="Times New Roman" panose="02020603050405020304" pitchFamily="18" charset="0"/>
                <a:cs typeface="Times New Roman" panose="02020603050405020304" pitchFamily="18" charset="0"/>
                <a:sym typeface="Arial" panose="020B0604020202020204"/>
              </a:rPr>
              <a:t>Department of Computer Science and Engineering</a:t>
            </a:r>
          </a:p>
          <a:p>
            <a:pPr algn="ctr" defTabSz="1219200">
              <a:buClr>
                <a:srgbClr val="000000"/>
              </a:buClr>
            </a:pPr>
            <a:endParaRPr lang="en-IN" sz="1865" b="1" kern="0" dirty="0">
              <a:solidFill>
                <a:srgbClr val="000000"/>
              </a:solidFill>
              <a:latin typeface="Times New Roman" panose="02020603050405020304" pitchFamily="18" charset="0"/>
              <a:cs typeface="Times New Roman" panose="02020603050405020304" pitchFamily="18" charset="0"/>
              <a:sym typeface="Arial" panose="020B0604020202020204"/>
            </a:endParaRPr>
          </a:p>
        </p:txBody>
      </p:sp>
      <p:sp>
        <p:nvSpPr>
          <p:cNvPr id="9" name="TextBox 8"/>
          <p:cNvSpPr txBox="1"/>
          <p:nvPr/>
        </p:nvSpPr>
        <p:spPr>
          <a:xfrm>
            <a:off x="185796" y="5019787"/>
            <a:ext cx="11848817" cy="1599565"/>
          </a:xfrm>
          <a:prstGeom prst="rect">
            <a:avLst/>
          </a:prstGeom>
          <a:noFill/>
        </p:spPr>
        <p:txBody>
          <a:bodyPr wrap="square">
            <a:spAutoFit/>
          </a:bodyPr>
          <a:lstStyle/>
          <a:p>
            <a:pPr algn="ctr" defTabSz="1219200">
              <a:buClr>
                <a:srgbClr val="000000"/>
              </a:buClr>
            </a:pPr>
            <a:r>
              <a:rPr lang="en-US" sz="2400" b="1" kern="0" dirty="0">
                <a:solidFill>
                  <a:srgbClr val="000000"/>
                </a:solidFill>
                <a:latin typeface="Times New Roman" panose="02020603050405020304" pitchFamily="18" charset="0"/>
                <a:cs typeface="Times New Roman" panose="02020603050405020304" pitchFamily="18" charset="0"/>
                <a:sym typeface="Arial" panose="020B0604020202020204"/>
              </a:rPr>
              <a:t>GAYATRI VIDYA PARISHAD COLLEGE OF ENGINEERING FOR WOMEN(A)</a:t>
            </a:r>
          </a:p>
          <a:p>
            <a:pPr algn="ctr" defTabSz="1219200">
              <a:buClr>
                <a:srgbClr val="000000"/>
              </a:buClr>
            </a:pPr>
            <a:r>
              <a:rPr lang="en-IN" sz="1400" kern="0" dirty="0">
                <a:solidFill>
                  <a:srgbClr val="000000"/>
                </a:solidFill>
                <a:latin typeface="Times New Roman" panose="02020603050405020304" pitchFamily="18" charset="0"/>
                <a:cs typeface="Times New Roman" panose="02020603050405020304" pitchFamily="18" charset="0"/>
                <a:sym typeface="Arial" panose="020B0604020202020204"/>
              </a:rPr>
              <a:t>[Approved by AICTE NEW DELHI, Affiliated to AU Visakhapatnam]</a:t>
            </a:r>
          </a:p>
          <a:p>
            <a:pPr algn="ctr" defTabSz="1219200">
              <a:buClr>
                <a:srgbClr val="000000"/>
              </a:buClr>
            </a:pPr>
            <a:r>
              <a:rPr lang="en-IN" sz="1400" kern="0" dirty="0">
                <a:solidFill>
                  <a:srgbClr val="000000"/>
                </a:solidFill>
                <a:latin typeface="Times New Roman" panose="02020603050405020304" pitchFamily="18" charset="0"/>
                <a:cs typeface="Times New Roman" panose="02020603050405020304" pitchFamily="18" charset="0"/>
                <a:sym typeface="Arial" panose="020B0604020202020204"/>
              </a:rPr>
              <a:t>[Accredited by National Board of Accreditation(NBA) for B.Tech. CSE, ECE &amp; IT – valid from 2019-22 and 2022-25]</a:t>
            </a:r>
          </a:p>
          <a:p>
            <a:pPr algn="ctr" defTabSz="1219200">
              <a:buClr>
                <a:srgbClr val="000000"/>
              </a:buClr>
            </a:pPr>
            <a:r>
              <a:rPr lang="en-IN" sz="1400" kern="0" dirty="0">
                <a:solidFill>
                  <a:srgbClr val="000000"/>
                </a:solidFill>
                <a:latin typeface="Times New Roman" panose="02020603050405020304" pitchFamily="18" charset="0"/>
                <a:cs typeface="Times New Roman" panose="02020603050405020304" pitchFamily="18" charset="0"/>
                <a:sym typeface="Arial" panose="020B0604020202020204"/>
              </a:rPr>
              <a:t>[Accredited by National Assessment and Accreditation Council (NAAC) with A Grade – valid from 2022-27] </a:t>
            </a:r>
          </a:p>
          <a:p>
            <a:pPr algn="ctr" defTabSz="1219200">
              <a:buClr>
                <a:srgbClr val="000000"/>
              </a:buClr>
            </a:pPr>
            <a:r>
              <a:rPr lang="en-IN" sz="1600" kern="0" dirty="0">
                <a:solidFill>
                  <a:srgbClr val="000000"/>
                </a:solidFill>
                <a:latin typeface="Times New Roman" panose="02020603050405020304" pitchFamily="18" charset="0"/>
                <a:cs typeface="Times New Roman" panose="02020603050405020304" pitchFamily="18" charset="0"/>
                <a:sym typeface="Arial" panose="020B0604020202020204"/>
              </a:rPr>
              <a:t>Kommadi, Madhurawada, Visakhapatnam – 530048</a:t>
            </a:r>
          </a:p>
          <a:p>
            <a:pPr algn="ctr" defTabSz="1219200">
              <a:buClr>
                <a:srgbClr val="000000"/>
              </a:buClr>
            </a:pPr>
            <a:r>
              <a:rPr lang="en-US" sz="1600" b="1" kern="0" dirty="0">
                <a:solidFill>
                  <a:srgbClr val="000000"/>
                </a:solidFill>
                <a:latin typeface="Times New Roman" panose="02020603050405020304" pitchFamily="18" charset="0"/>
                <a:cs typeface="Times New Roman" panose="02020603050405020304" pitchFamily="18" charset="0"/>
                <a:sym typeface="Arial" panose="020B0604020202020204"/>
              </a:rPr>
              <a:t>Academic Batch : 2024-25                                                                                 </a:t>
            </a:r>
          </a:p>
        </p:txBody>
      </p:sp>
      <p:sp>
        <p:nvSpPr>
          <p:cNvPr id="6" name="TextBox 5"/>
          <p:cNvSpPr txBox="1"/>
          <p:nvPr/>
        </p:nvSpPr>
        <p:spPr>
          <a:xfrm>
            <a:off x="1461247" y="750879"/>
            <a:ext cx="9297918" cy="583565"/>
          </a:xfrm>
          <a:prstGeom prst="rect">
            <a:avLst/>
          </a:prstGeom>
          <a:noFill/>
        </p:spPr>
        <p:txBody>
          <a:bodyPr wrap="square">
            <a:spAutoFit/>
          </a:bodyPr>
          <a:lstStyle/>
          <a:p>
            <a:pPr algn="ctr"/>
            <a:r>
              <a:rPr lang="en-US" sz="3200" b="1" dirty="0">
                <a:latin typeface="Times New Roman" panose="02020603050405020304" pitchFamily="18" charset="0"/>
                <a:ea typeface="+mj-lt"/>
                <a:cs typeface="Times New Roman" panose="02020603050405020304" pitchFamily="18" charset="0"/>
              </a:rPr>
              <a:t>TITLE: </a:t>
            </a:r>
            <a:r>
              <a:rPr lang="en-IN" sz="3200" b="1" dirty="0">
                <a:latin typeface="Times New Roman" panose="02020603050405020304" pitchFamily="18" charset="0"/>
                <a:ea typeface="+mj-lt"/>
                <a:cs typeface="Times New Roman" panose="02020603050405020304" pitchFamily="18" charset="0"/>
              </a:rPr>
              <a:t>CYBERBULLYING DETECTION</a:t>
            </a:r>
            <a:endParaRPr lang="en-IN" altLang="en-US" sz="3200" b="1" dirty="0">
              <a:latin typeface="Times New Roman" panose="02020603050405020304" pitchFamily="18" charset="0"/>
              <a:ea typeface="+mj-lt"/>
              <a:cs typeface="Times New Roman" panose="02020603050405020304" pitchFamily="18"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4790" y="1731569"/>
            <a:ext cx="2250831" cy="2509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3537" y="500251"/>
            <a:ext cx="10515600" cy="590305"/>
          </a:xfrm>
        </p:spPr>
        <p:txBody>
          <a:bodyPr>
            <a:normAutofit/>
          </a:bodyPr>
          <a:lstStyle/>
          <a:p>
            <a:pPr algn="ctr"/>
            <a:r>
              <a:rPr lang="en-IN" sz="3200" b="1" dirty="0">
                <a:latin typeface="Times New Roman" panose="02020603050405020304" pitchFamily="18" charset="0"/>
                <a:cs typeface="Times New Roman" panose="02020603050405020304" pitchFamily="18" charset="0"/>
              </a:rPr>
              <a:t>Contents</a:t>
            </a:r>
          </a:p>
        </p:txBody>
      </p:sp>
      <p:sp>
        <p:nvSpPr>
          <p:cNvPr id="3" name="Content Placeholder 2"/>
          <p:cNvSpPr>
            <a:spLocks noGrp="1"/>
          </p:cNvSpPr>
          <p:nvPr>
            <p:ph idx="1"/>
          </p:nvPr>
        </p:nvSpPr>
        <p:spPr>
          <a:xfrm>
            <a:off x="757555" y="699769"/>
            <a:ext cx="10515600" cy="5362827"/>
          </a:xfrm>
        </p:spPr>
        <p:txBody>
          <a:bodyPr>
            <a:noAutofit/>
          </a:bodyPr>
          <a:lstStyle/>
          <a:p>
            <a:pPr marL="617855" indent="-381000" algn="just">
              <a:buClr>
                <a:schemeClr val="tx1"/>
              </a:buClr>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617855" indent="-381000" algn="just">
              <a:buClr>
                <a:schemeClr val="tx1"/>
              </a:buClr>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Abstract</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Problem Statement</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Limitations in Existing System</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Internship Project Workflow  (Architectural Diagram)</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Flow Graph</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Proposed System</a:t>
            </a:r>
          </a:p>
          <a:p>
            <a:pPr marL="617855" indent="-381000" algn="just">
              <a:lnSpc>
                <a:spcPct val="150000"/>
              </a:lnSpc>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Implementation </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Output Screenshots</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Conclusion</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References</a:t>
            </a:r>
          </a:p>
          <a:p>
            <a:endParaRPr lang="en-IN" sz="1050" dirty="0"/>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2</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276" y="319088"/>
            <a:ext cx="10351835" cy="624430"/>
          </a:xfrm>
        </p:spPr>
        <p:txBody>
          <a:bodyPr>
            <a:noAutofit/>
          </a:bodyPr>
          <a:lstStyle/>
          <a:p>
            <a:pPr algn="ctr"/>
            <a:r>
              <a:rPr lang="en-US" sz="4800" b="1" dirty="0">
                <a:latin typeface="Times New Roman" panose="02020603050405020304" pitchFamily="18" charset="0"/>
                <a:cs typeface="Times New Roman" panose="02020603050405020304" pitchFamily="18" charset="0"/>
              </a:rPr>
              <a:t>                       </a:t>
            </a:r>
            <a:br>
              <a:rPr lang="en-US" sz="48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CERTIFICATE</a:t>
            </a:r>
            <a:br>
              <a:rPr lang="en-IN"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3</a:t>
            </a:fld>
            <a:endParaRPr lang="en-US" sz="2000" b="1" dirty="0">
              <a:latin typeface="Aparajita" panose="02020603050405020304" pitchFamily="18" charset="0"/>
              <a:cs typeface="Aparajita" panose="02020603050405020304" pitchFamily="18" charset="0"/>
            </a:endParaRPr>
          </a:p>
        </p:txBody>
      </p:sp>
      <p:pic>
        <p:nvPicPr>
          <p:cNvPr id="7" name="Picture 6">
            <a:extLst>
              <a:ext uri="{FF2B5EF4-FFF2-40B4-BE49-F238E27FC236}">
                <a16:creationId xmlns:a16="http://schemas.microsoft.com/office/drawing/2014/main" id="{FAD05957-3C4B-9526-410F-BBC2088C4E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0993" y="943518"/>
            <a:ext cx="7772400" cy="550608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838200" y="1542596"/>
            <a:ext cx="10515600" cy="4351338"/>
          </a:xfrm>
        </p:spPr>
        <p:txBody>
          <a:bodyPr vert="horz" lIns="91440" tIns="45720" rIns="91440" bIns="45720" rtlCol="0" anchor="t">
            <a:normAutofit/>
          </a:bodyPr>
          <a:lstStyle/>
          <a:p>
            <a:pPr marL="0" indent="0">
              <a:buNone/>
            </a:pPr>
            <a:r>
              <a:rPr lang="en-IN" sz="2000" dirty="0">
                <a:latin typeface="Times New Roman" panose="02020603050405020304" pitchFamily="18" charset="0"/>
                <a:ea typeface="+mn-lt"/>
                <a:cs typeface="Times New Roman" panose="02020603050405020304" pitchFamily="18" charset="0"/>
              </a:rPr>
              <a:t> </a:t>
            </a:r>
            <a:endParaRPr lang="en-US" sz="2000" dirty="0">
              <a:latin typeface="Times New Roman" panose="02020603050405020304" pitchFamily="18" charset="0"/>
              <a:ea typeface="+mn-lt"/>
              <a:cs typeface="Times New Roman" panose="02020603050405020304" pitchFamily="18" charset="0"/>
            </a:endParaRPr>
          </a:p>
          <a:p>
            <a:pPr marL="0" indent="0" algn="just">
              <a:buNone/>
            </a:pPr>
            <a:r>
              <a:rPr lang="en-IN" sz="2400" dirty="0">
                <a:latin typeface="Times New Roman" panose="02020603050405020304" pitchFamily="18" charset="0"/>
                <a:cs typeface="Times New Roman" panose="02020603050405020304" pitchFamily="18" charset="0"/>
              </a:rPr>
              <a:t>The Cyberbullying Detection System is a machine-learning based web service that identifies abusive or harmful text in real time. It is built using Python, FastAPI, and scikit-learn with a Logistic Regression classifier. User input is cleaned, converted into TF-IDF vectors, and classified as safe or cyberbullying using NLP techniques. Detected abusive messages are logged and offense counts are maintained for each user. The system issues warnings and automatically blocks users after three offenses. A PDF report generator provides statistics for monitoring, cybersecurity analysis, and digital safety research. A browser-accessible FastAPI interface makes the application lightweight and easy to integrate.</a:t>
            </a:r>
            <a:endParaRPr lang="en-US" sz="2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4</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2808" y="675093"/>
            <a:ext cx="10406380" cy="1026795"/>
          </a:xfrm>
        </p:spPr>
        <p:txBody>
          <a:bodyPr>
            <a:normAutofit/>
          </a:bodyPr>
          <a:lstStyle/>
          <a:p>
            <a:pPr algn="ctr"/>
            <a:r>
              <a:rPr lang="en-US" sz="2800" b="1"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1197427" y="1856239"/>
            <a:ext cx="9797143" cy="4191410"/>
          </a:xfrm>
        </p:spPr>
        <p:txBody>
          <a:bodyPr vert="horz" lIns="91440" tIns="45720" rIns="91440" bIns="45720" rtlCol="0" anchor="t">
            <a:normAutofit/>
          </a:bodyPr>
          <a:lstStyle/>
          <a:p>
            <a:pPr marL="0" indent="0" algn="just">
              <a:buNone/>
            </a:pPr>
            <a:r>
              <a:rPr lang="en-US" sz="2400" dirty="0">
                <a:latin typeface="Times New Roman" panose="02020603050405020304" pitchFamily="18" charset="0"/>
                <a:cs typeface="Times New Roman" panose="02020603050405020304" pitchFamily="18" charset="0"/>
              </a:rPr>
              <a:t>The rapid growth of online communication platforms has led to an increase in cyberbullying incidents, which negatively impact mental health and digital safety. Existing systems rely heavily on manual monitoring, making it difficult to detect abusive content in real time. Delayed responses allow harmful comments to remain visible and repeat offenders to continue their behavior. There is a lack of automated mechanisms to classify text, issue warnings, block users, and generate reports. Hence, an efficient system is required to automatically detect cyberbullying using Machine Learning and NLP techniques, enforce moderation rules, and provide analytical insights for administrators.</a:t>
            </a:r>
          </a:p>
          <a:p>
            <a:pPr algn="just"/>
            <a:endParaRPr lang="en-US" dirty="0"/>
          </a:p>
          <a:p>
            <a:endParaRPr lang="en-US" dirty="0"/>
          </a:p>
          <a:p>
            <a:endParaRPr lang="en-US" dirty="0"/>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5</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2000" cy="1325563"/>
          </a:xfrm>
          <a:solidFill>
            <a:schemeClr val="bg1"/>
          </a:solidFill>
        </p:spPr>
        <p:txBody>
          <a:bodyPr/>
          <a:lstStyle/>
          <a:p>
            <a:pPr algn="ctr"/>
            <a:r>
              <a:rPr lang="en-US" sz="3600" b="1" dirty="0">
                <a:latin typeface="Times New Roman" panose="02020603050405020304" pitchFamily="18" charset="0"/>
                <a:cs typeface="Times New Roman" panose="02020603050405020304" pitchFamily="18" charset="0"/>
              </a:rPr>
              <a:t>LIMITATIONS IN EXISTING SYSTEM</a:t>
            </a:r>
            <a:endParaRPr lang="en-IN" sz="36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0417628" y="6356350"/>
            <a:ext cx="936171" cy="365125"/>
          </a:xfrm>
        </p:spPr>
        <p:txBody>
          <a:bodyPr/>
          <a:lstStyle/>
          <a:p>
            <a:fld id="{330EA680-D336-4FF7-8B7A-9848BB0A1C32}" type="slidenum">
              <a:rPr lang="en-US" sz="2000" b="1" smtClean="0">
                <a:latin typeface="Aparajita" panose="02020603050405020304" pitchFamily="18" charset="0"/>
                <a:cs typeface="Aparajita" panose="02020603050405020304" pitchFamily="18" charset="0"/>
              </a:rPr>
              <a:t>6</a:t>
            </a:fld>
            <a:endParaRPr lang="en-US" sz="2000" b="1" dirty="0">
              <a:latin typeface="Aparajita" panose="02020603050405020304" pitchFamily="18" charset="0"/>
              <a:cs typeface="Aparajita" panose="02020603050405020304" pitchFamily="18" charset="0"/>
            </a:endParaRPr>
          </a:p>
        </p:txBody>
      </p:sp>
      <p:sp>
        <p:nvSpPr>
          <p:cNvPr id="3" name="Content Placeholder 2"/>
          <p:cNvSpPr>
            <a:spLocks noGrp="1"/>
          </p:cNvSpPr>
          <p:nvPr>
            <p:ph idx="1"/>
          </p:nvPr>
        </p:nvSpPr>
        <p:spPr>
          <a:xfrm>
            <a:off x="838200" y="1690688"/>
            <a:ext cx="10515599" cy="4437064"/>
          </a:xfrm>
        </p:spPr>
        <p:txBody>
          <a:bodyPr>
            <a:noAutofit/>
          </a:bodyPr>
          <a:lstStyle/>
          <a:p>
            <a:pPr>
              <a:lnSpc>
                <a:spcPct val="150000"/>
              </a:lnSpc>
            </a:pPr>
            <a:r>
              <a:rPr lang="en-IN" sz="2000" dirty="0">
                <a:latin typeface="Times New Roman" panose="02020603050405020304" pitchFamily="18" charset="0"/>
                <a:cs typeface="Times New Roman" panose="02020603050405020304" pitchFamily="18" charset="0"/>
              </a:rPr>
              <a:t>Cyberbullying detection is mainly performed manually, which is time-consuming and inefficient.</a:t>
            </a:r>
          </a:p>
          <a:p>
            <a:pPr>
              <a:lnSpc>
                <a:spcPct val="150000"/>
              </a:lnSpc>
            </a:pPr>
            <a:r>
              <a:rPr lang="en-IN" sz="2000" dirty="0">
                <a:latin typeface="Times New Roman" panose="02020603050405020304" pitchFamily="18" charset="0"/>
                <a:cs typeface="Times New Roman" panose="02020603050405020304" pitchFamily="18" charset="0"/>
              </a:rPr>
              <a:t>Human moderation causes delays in identifying abusive content, allowing harmful messages to remain visible.</a:t>
            </a:r>
          </a:p>
          <a:p>
            <a:pPr>
              <a:lnSpc>
                <a:spcPct val="150000"/>
              </a:lnSpc>
            </a:pPr>
            <a:r>
              <a:rPr lang="en-IN" sz="2000" dirty="0">
                <a:latin typeface="Times New Roman" panose="02020603050405020304" pitchFamily="18" charset="0"/>
                <a:cs typeface="Times New Roman" panose="02020603050405020304" pitchFamily="18" charset="0"/>
              </a:rPr>
              <a:t>There is no automated warning or blocking mechanism for repeat offenders.</a:t>
            </a:r>
          </a:p>
          <a:p>
            <a:pPr>
              <a:lnSpc>
                <a:spcPct val="150000"/>
              </a:lnSpc>
            </a:pPr>
            <a:r>
              <a:rPr lang="en-IN" sz="2000" dirty="0">
                <a:latin typeface="Times New Roman" panose="02020603050405020304" pitchFamily="18" charset="0"/>
                <a:cs typeface="Times New Roman" panose="02020603050405020304" pitchFamily="18" charset="0"/>
              </a:rPr>
              <a:t>Existing systems lack intelligent analysis using Machine Learning or NLP.</a:t>
            </a:r>
          </a:p>
          <a:p>
            <a:pPr>
              <a:lnSpc>
                <a:spcPct val="150000"/>
              </a:lnSpc>
            </a:pPr>
            <a:r>
              <a:rPr lang="en-IN" sz="2000" dirty="0">
                <a:latin typeface="Times New Roman" panose="02020603050405020304" pitchFamily="18" charset="0"/>
                <a:cs typeface="Times New Roman" panose="02020603050405020304" pitchFamily="18" charset="0"/>
              </a:rPr>
              <a:t>Maintaining records of abusive users and messages is unstructured or inconsistent.</a:t>
            </a:r>
          </a:p>
          <a:p>
            <a:pPr>
              <a:lnSpc>
                <a:spcPct val="150000"/>
              </a:lnSpc>
            </a:pPr>
            <a:r>
              <a:rPr lang="en-IN" sz="2000" dirty="0">
                <a:latin typeface="Times New Roman" panose="02020603050405020304" pitchFamily="18" charset="0"/>
                <a:cs typeface="Times New Roman" panose="02020603050405020304" pitchFamily="18" charset="0"/>
              </a:rPr>
              <a:t>Administrators have limited visibility and analytics on cyberbullying patterns.</a:t>
            </a:r>
          </a:p>
          <a:p>
            <a:pPr>
              <a:lnSpc>
                <a:spcPct val="150000"/>
              </a:lnSpc>
            </a:pPr>
            <a:r>
              <a:rPr lang="en-IN" sz="2000" dirty="0">
                <a:latin typeface="Times New Roman" panose="02020603050405020304" pitchFamily="18" charset="0"/>
                <a:cs typeface="Times New Roman" panose="02020603050405020304" pitchFamily="18" charset="0"/>
              </a:rPr>
              <a:t>There is no automated report generation for monitoring and documentation purposes.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8828" y="319088"/>
            <a:ext cx="10885117" cy="1296770"/>
          </a:xfrm>
        </p:spPr>
        <p:txBody>
          <a:bodyPr>
            <a:normAutofit fontScale="90000"/>
          </a:bodyPr>
          <a:lstStyle/>
          <a:p>
            <a:pPr marL="0" indent="0" algn="ctr"/>
            <a:r>
              <a:rPr lang="en-US" sz="3600" b="1" dirty="0">
                <a:latin typeface="Times New Roman" panose="02020603050405020304" pitchFamily="18" charset="0"/>
                <a:cs typeface="Times New Roman" panose="02020603050405020304" pitchFamily="18" charset="0"/>
              </a:rPr>
              <a:t> </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 PROPOSED METHODOLOGY/ARCHITECTURE</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a:t>
            </a:r>
            <a:r>
              <a:rPr lang="en-IN" altLang="en-US" sz="3600" dirty="0">
                <a:latin typeface="Times New Roman" panose="02020603050405020304" pitchFamily="18" charset="0"/>
                <a:cs typeface="Times New Roman" panose="02020603050405020304" pitchFamily="18" charset="0"/>
              </a:rPr>
              <a:t>Work Flow Diagram ]</a:t>
            </a:r>
            <a:br>
              <a:rPr lang="en-IN" altLang="en-US" sz="3600"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7</a:t>
            </a:fld>
            <a:endParaRPr lang="en-US" sz="2000" b="1" dirty="0">
              <a:latin typeface="Aparajita" panose="02020603050405020304" pitchFamily="18" charset="0"/>
              <a:cs typeface="Aparajita" panose="02020603050405020304" pitchFamily="18" charset="0"/>
            </a:endParaRPr>
          </a:p>
        </p:txBody>
      </p:sp>
      <p:pic>
        <p:nvPicPr>
          <p:cNvPr id="22" name="Picture 21">
            <a:extLst>
              <a:ext uri="{FF2B5EF4-FFF2-40B4-BE49-F238E27FC236}">
                <a16:creationId xmlns:a16="http://schemas.microsoft.com/office/drawing/2014/main" id="{5E9FA22C-8F2D-A416-2315-2387E5550933}"/>
              </a:ext>
            </a:extLst>
          </p:cNvPr>
          <p:cNvPicPr>
            <a:picLocks noChangeAspect="1"/>
          </p:cNvPicPr>
          <p:nvPr/>
        </p:nvPicPr>
        <p:blipFill rotWithShape="1">
          <a:blip r:embed="rId2"/>
          <a:srcRect l="7674" t="10404" r="9480"/>
          <a:stretch>
            <a:fillRect/>
          </a:stretch>
        </p:blipFill>
        <p:spPr bwMode="auto">
          <a:xfrm>
            <a:off x="572023" y="1494007"/>
            <a:ext cx="6744476" cy="4862343"/>
          </a:xfrm>
          <a:prstGeom prst="rect">
            <a:avLst/>
          </a:prstGeom>
          <a:ln>
            <a:noFill/>
          </a:ln>
          <a:extLst>
            <a:ext uri="{53640926-AAD7-44D8-BBD7-CCE9431645EC}">
              <a14:shadowObscured xmlns:a14="http://schemas.microsoft.com/office/drawing/2010/main"/>
            </a:ext>
          </a:extLst>
        </p:spPr>
      </p:pic>
      <p:pic>
        <p:nvPicPr>
          <p:cNvPr id="31" name="Picture 30">
            <a:extLst>
              <a:ext uri="{FF2B5EF4-FFF2-40B4-BE49-F238E27FC236}">
                <a16:creationId xmlns:a16="http://schemas.microsoft.com/office/drawing/2014/main" id="{96512D47-B58E-B652-13C8-9C4A83160840}"/>
              </a:ext>
            </a:extLst>
          </p:cNvPr>
          <p:cNvPicPr>
            <a:picLocks noChangeAspect="1"/>
          </p:cNvPicPr>
          <p:nvPr/>
        </p:nvPicPr>
        <p:blipFill>
          <a:blip r:embed="rId3"/>
          <a:srcRect b="6172"/>
          <a:stretch>
            <a:fillRect/>
          </a:stretch>
        </p:blipFill>
        <p:spPr>
          <a:xfrm>
            <a:off x="7866573" y="1577687"/>
            <a:ext cx="2673366" cy="1543602"/>
          </a:xfrm>
          <a:prstGeom prst="rect">
            <a:avLst/>
          </a:prstGeom>
        </p:spPr>
      </p:pic>
      <p:pic>
        <p:nvPicPr>
          <p:cNvPr id="32" name="Picture 31">
            <a:extLst>
              <a:ext uri="{FF2B5EF4-FFF2-40B4-BE49-F238E27FC236}">
                <a16:creationId xmlns:a16="http://schemas.microsoft.com/office/drawing/2014/main" id="{98121FB7-EEE9-A00C-FC23-28868CB108C9}"/>
              </a:ext>
            </a:extLst>
          </p:cNvPr>
          <p:cNvPicPr>
            <a:picLocks noChangeAspect="1"/>
          </p:cNvPicPr>
          <p:nvPr/>
        </p:nvPicPr>
        <p:blipFill>
          <a:blip r:embed="rId4"/>
          <a:stretch>
            <a:fillRect/>
          </a:stretch>
        </p:blipFill>
        <p:spPr>
          <a:xfrm>
            <a:off x="9686793" y="3172139"/>
            <a:ext cx="1749193" cy="1721124"/>
          </a:xfrm>
          <a:prstGeom prst="rect">
            <a:avLst/>
          </a:prstGeom>
        </p:spPr>
      </p:pic>
      <p:pic>
        <p:nvPicPr>
          <p:cNvPr id="35" name="Picture 34">
            <a:extLst>
              <a:ext uri="{FF2B5EF4-FFF2-40B4-BE49-F238E27FC236}">
                <a16:creationId xmlns:a16="http://schemas.microsoft.com/office/drawing/2014/main" id="{DCEC8C48-BD8D-1C5C-A8FD-9585115BA7D2}"/>
              </a:ext>
            </a:extLst>
          </p:cNvPr>
          <p:cNvPicPr>
            <a:picLocks noChangeAspect="1"/>
          </p:cNvPicPr>
          <p:nvPr/>
        </p:nvPicPr>
        <p:blipFill>
          <a:blip r:embed="rId5"/>
          <a:srcRect l="8899" t="11565" r="10659" b="14010"/>
          <a:stretch>
            <a:fillRect/>
          </a:stretch>
        </p:blipFill>
        <p:spPr>
          <a:xfrm>
            <a:off x="7674276" y="4455484"/>
            <a:ext cx="2012517" cy="18500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4B12247-F4A3-6398-9E51-617219E8587C}"/>
              </a:ext>
            </a:extLst>
          </p:cNvPr>
          <p:cNvSpPr>
            <a:spLocks noGrp="1"/>
          </p:cNvSpPr>
          <p:nvPr>
            <p:ph type="title"/>
          </p:nvPr>
        </p:nvSpPr>
        <p:spPr>
          <a:xfrm>
            <a:off x="850726" y="601576"/>
            <a:ext cx="3282863" cy="1112946"/>
          </a:xfrm>
        </p:spPr>
        <p:txBody>
          <a:bodyPr>
            <a:normAutofit/>
          </a:bodyPr>
          <a:lstStyle/>
          <a:p>
            <a:r>
              <a:rPr lang="en-US" sz="3200" b="1" dirty="0">
                <a:latin typeface="Times New Roman" panose="02020603050405020304" pitchFamily="18" charset="0"/>
                <a:cs typeface="Times New Roman" panose="02020603050405020304" pitchFamily="18" charset="0"/>
              </a:rPr>
              <a:t>FLOW GRAPH:</a:t>
            </a:r>
          </a:p>
        </p:txBody>
      </p:sp>
      <p:sp>
        <p:nvSpPr>
          <p:cNvPr id="5" name="Slide Number Placeholder 4">
            <a:extLst>
              <a:ext uri="{FF2B5EF4-FFF2-40B4-BE49-F238E27FC236}">
                <a16:creationId xmlns:a16="http://schemas.microsoft.com/office/drawing/2014/main" id="{BFBCB498-0F05-8879-3E2A-23097493E529}"/>
              </a:ext>
            </a:extLst>
          </p:cNvPr>
          <p:cNvSpPr>
            <a:spLocks noGrp="1"/>
          </p:cNvSpPr>
          <p:nvPr>
            <p:ph type="sldNum" sz="quarter" idx="12"/>
          </p:nvPr>
        </p:nvSpPr>
        <p:spPr/>
        <p:txBody>
          <a:bodyPr/>
          <a:lstStyle/>
          <a:p>
            <a:fld id="{330EA680-D336-4FF7-8B7A-9848BB0A1C32}" type="slidenum">
              <a:rPr lang="en-US" smtClean="0"/>
              <a:t>8</a:t>
            </a:fld>
            <a:endParaRPr lang="en-US"/>
          </a:p>
        </p:txBody>
      </p:sp>
      <p:pic>
        <p:nvPicPr>
          <p:cNvPr id="8" name="Picture 7">
            <a:extLst>
              <a:ext uri="{FF2B5EF4-FFF2-40B4-BE49-F238E27FC236}">
                <a16:creationId xmlns:a16="http://schemas.microsoft.com/office/drawing/2014/main" id="{BE343B5A-98F2-2F40-1258-0BA75770C754}"/>
              </a:ext>
            </a:extLst>
          </p:cNvPr>
          <p:cNvPicPr>
            <a:picLocks noChangeAspect="1"/>
          </p:cNvPicPr>
          <p:nvPr/>
        </p:nvPicPr>
        <p:blipFill>
          <a:blip r:embed="rId2"/>
          <a:srcRect t="5324" b="11964"/>
          <a:stretch>
            <a:fillRect/>
          </a:stretch>
        </p:blipFill>
        <p:spPr>
          <a:xfrm>
            <a:off x="4536509" y="601576"/>
            <a:ext cx="5334001" cy="5937336"/>
          </a:xfrm>
          <a:prstGeom prst="rect">
            <a:avLst/>
          </a:prstGeom>
        </p:spPr>
      </p:pic>
    </p:spTree>
    <p:extLst>
      <p:ext uri="{BB962C8B-B14F-4D97-AF65-F5344CB8AC3E}">
        <p14:creationId xmlns:p14="http://schemas.microsoft.com/office/powerpoint/2010/main" val="3205893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altLang="en-US" sz="2800" b="1" dirty="0">
                <a:latin typeface="Times New Roman" panose="02020603050405020304" pitchFamily="18" charset="0"/>
                <a:cs typeface="Times New Roman" panose="02020603050405020304" pitchFamily="18" charset="0"/>
              </a:rPr>
              <a:t>PROPOSED SYSTEM</a:t>
            </a: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9</a:t>
            </a:fld>
            <a:endParaRPr lang="en-US" sz="2000" b="1" dirty="0">
              <a:latin typeface="Aparajita" panose="02020603050405020304" pitchFamily="18" charset="0"/>
              <a:cs typeface="Aparajita" panose="02020603050405020304" pitchFamily="18" charset="0"/>
            </a:endParaRPr>
          </a:p>
        </p:txBody>
      </p:sp>
      <p:sp>
        <p:nvSpPr>
          <p:cNvPr id="7" name="TextBox 6"/>
          <p:cNvSpPr txBox="1"/>
          <p:nvPr/>
        </p:nvSpPr>
        <p:spPr>
          <a:xfrm>
            <a:off x="5495827" y="6457361"/>
            <a:ext cx="2488676" cy="369332"/>
          </a:xfrm>
          <a:prstGeom prst="rect">
            <a:avLst/>
          </a:prstGeom>
          <a:noFill/>
        </p:spPr>
        <p:txBody>
          <a:bodyPr wrap="square" rtlCol="0">
            <a:spAutoFit/>
          </a:bodyPr>
          <a:lstStyle/>
          <a:p>
            <a:endParaRPr lang="en-IN" dirty="0"/>
          </a:p>
        </p:txBody>
      </p:sp>
      <p:sp>
        <p:nvSpPr>
          <p:cNvPr id="6" name="Content Placeholder 5"/>
          <p:cNvSpPr>
            <a:spLocks noGrp="1"/>
          </p:cNvSpPr>
          <p:nvPr>
            <p:ph sz="half" idx="1"/>
          </p:nvPr>
        </p:nvSpPr>
        <p:spPr>
          <a:xfrm>
            <a:off x="1185275" y="1512926"/>
            <a:ext cx="9821450" cy="4624828"/>
          </a:xfrm>
        </p:spPr>
        <p:txBody>
          <a:bodyPr>
            <a:noAutofit/>
          </a:bodyPr>
          <a:lstStyle/>
          <a:p>
            <a:pPr marL="0" indent="0" algn="just">
              <a:lnSpc>
                <a:spcPct val="150000"/>
              </a:lnSpc>
              <a:buNone/>
            </a:pPr>
            <a:r>
              <a:rPr lang="en-US" altLang="en-US" sz="2400" dirty="0">
                <a:latin typeface="Times New Roman" panose="02020603050405020304" pitchFamily="18" charset="0"/>
                <a:cs typeface="Times New Roman" panose="02020603050405020304" pitchFamily="18" charset="0"/>
              </a:rPr>
              <a:t>The proposed system implements an automated cyberbullying detection framework using Machine Learning and NLP. User comments are analyzed in real time and classified as safe or abusive using a trained Logistic Regression model with TF-IDF features. Abusive comments are hidden automatically, warnings are issued, and repeat offenders are blocked after multiple violations. All activities are stored in structured JSON files. The system also provides an admin dashboard and generates PDF reports for monitoring and documentation, ensuring efficient and timely moderation.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37790"/>
          </a:xfrm>
        </p:spPr>
        <p:txBody>
          <a:bodyPr/>
          <a:lstStyle/>
          <a:p>
            <a:pPr algn="ctr"/>
            <a:r>
              <a:rPr lang="en-US" sz="3200" b="1" dirty="0">
                <a:latin typeface="Times New Roman" panose="02020603050405020304" pitchFamily="18" charset="0"/>
                <a:cs typeface="Times New Roman" panose="02020603050405020304" pitchFamily="18" charset="0"/>
              </a:rPr>
              <a:t>IMPLEMENTATION [ CODING FILES ]</a:t>
            </a:r>
          </a:p>
        </p:txBody>
      </p:sp>
      <p:sp>
        <p:nvSpPr>
          <p:cNvPr id="9" name="Content Placeholder 8"/>
          <p:cNvSpPr>
            <a:spLocks noGrp="1"/>
          </p:cNvSpPr>
          <p:nvPr>
            <p:ph sz="half" idx="1"/>
          </p:nvPr>
        </p:nvSpPr>
        <p:spPr>
          <a:xfrm>
            <a:off x="838200" y="1302708"/>
            <a:ext cx="8801100" cy="5190168"/>
          </a:xfrm>
        </p:spPr>
        <p:txBody>
          <a:bodyPr vert="horz" lIns="91440" tIns="45720" rIns="91440" bIns="45720" rtlCol="0" anchor="t">
            <a:noAutofit/>
          </a:bodyPr>
          <a:lstStyle/>
          <a:p>
            <a:pPr marL="0" indent="0" algn="just">
              <a:lnSpc>
                <a:spcPct val="150000"/>
              </a:lnSpc>
              <a:buNone/>
            </a:pPr>
            <a:r>
              <a:rPr lang="en-US" altLang="en-US" sz="1900" dirty="0">
                <a:latin typeface="Times New Roman" panose="02020603050405020304" pitchFamily="18" charset="0"/>
                <a:cs typeface="Times New Roman" panose="02020603050405020304" pitchFamily="18" charset="0"/>
              </a:rPr>
              <a:t>The Cyberbullying Detection System is implemented using Python and FastAPI, with Machine Learning and NLP for text classification. A Logistic Regression model is trained offline using a labeled dataset, where text is preprocessed and converted into numerical features using TF-IDF vectorization. The trained model and vectorizer are saved using joblib.</a:t>
            </a:r>
          </a:p>
          <a:p>
            <a:pPr marL="0" indent="0" algn="just">
              <a:lnSpc>
                <a:spcPct val="150000"/>
              </a:lnSpc>
              <a:buNone/>
            </a:pPr>
            <a:r>
              <a:rPr lang="en-US" altLang="en-US" sz="1900" dirty="0">
                <a:latin typeface="Times New Roman" panose="02020603050405020304" pitchFamily="18" charset="0"/>
                <a:cs typeface="Times New Roman" panose="02020603050405020304" pitchFamily="18" charset="0"/>
              </a:rPr>
              <a:t>In the backend, FastAPI loads the trained model and processes user input through API endpoints. When a comment is submitted, the system first checks whether the user is blocked, then cleans the text and predicts whether it is safe or abusive. Abusive comments trigger warnings, and repeated offenses lead to permanent user blocking. All moderation data is stored in JSON files. An admin dashboard displays system statistics, and PDF reports are generated using ReportLab for monitoring and documentation.</a:t>
            </a:r>
          </a:p>
        </p:txBody>
      </p:sp>
      <p:sp>
        <p:nvSpPr>
          <p:cNvPr id="4" name="Slide Number Placeholder 3"/>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10</a:t>
            </a:fld>
            <a:endParaRPr lang="en-US" sz="2000" b="1" dirty="0">
              <a:latin typeface="Aparajita" panose="02020603050405020304" pitchFamily="18" charset="0"/>
              <a:cs typeface="Aparajita" panose="02020603050405020304" pitchFamily="18" charset="0"/>
            </a:endParaRPr>
          </a:p>
        </p:txBody>
      </p:sp>
      <p:pic>
        <p:nvPicPr>
          <p:cNvPr id="8" name="Picture 7">
            <a:extLst>
              <a:ext uri="{FF2B5EF4-FFF2-40B4-BE49-F238E27FC236}">
                <a16:creationId xmlns:a16="http://schemas.microsoft.com/office/drawing/2014/main" id="{568DAE3A-F723-1C47-E9A6-2895F9C230C4}"/>
              </a:ext>
            </a:extLst>
          </p:cNvPr>
          <p:cNvPicPr>
            <a:picLocks noChangeAspect="1"/>
          </p:cNvPicPr>
          <p:nvPr/>
        </p:nvPicPr>
        <p:blipFill>
          <a:blip r:embed="rId2"/>
          <a:stretch>
            <a:fillRect/>
          </a:stretch>
        </p:blipFill>
        <p:spPr>
          <a:xfrm>
            <a:off x="9807096" y="2267212"/>
            <a:ext cx="2030000" cy="203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OUTPUT SCREENSHOTS </a:t>
            </a:r>
          </a:p>
        </p:txBody>
      </p:sp>
      <p:sp>
        <p:nvSpPr>
          <p:cNvPr id="6" name="Slide Number Placeholder 5"/>
          <p:cNvSpPr>
            <a:spLocks noGrp="1"/>
          </p:cNvSpPr>
          <p:nvPr>
            <p:ph type="sldNum" sz="quarter" idx="12"/>
          </p:nvPr>
        </p:nvSpPr>
        <p:spPr/>
        <p:txBody>
          <a:bodyPr/>
          <a:lstStyle/>
          <a:p>
            <a:fld id="{330EA680-D336-4FF7-8B7A-9848BB0A1C32}" type="slidenum">
              <a:rPr lang="en-US" smtClean="0"/>
              <a:t>11</a:t>
            </a:fld>
            <a:endParaRPr lang="en-US"/>
          </a:p>
        </p:txBody>
      </p:sp>
      <p:pic>
        <p:nvPicPr>
          <p:cNvPr id="7" name="Picture 6">
            <a:extLst>
              <a:ext uri="{FF2B5EF4-FFF2-40B4-BE49-F238E27FC236}">
                <a16:creationId xmlns:a16="http://schemas.microsoft.com/office/drawing/2014/main" id="{91C2FBF6-78F1-E175-6159-CFF090B82C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1484" y="1687727"/>
            <a:ext cx="4652528" cy="4626337"/>
          </a:xfrm>
          <a:prstGeom prst="rect">
            <a:avLst/>
          </a:prstGeom>
        </p:spPr>
      </p:pic>
      <p:pic>
        <p:nvPicPr>
          <p:cNvPr id="8" name="Picture 7">
            <a:extLst>
              <a:ext uri="{FF2B5EF4-FFF2-40B4-BE49-F238E27FC236}">
                <a16:creationId xmlns:a16="http://schemas.microsoft.com/office/drawing/2014/main" id="{D9B64B09-C6A6-2478-B63C-A1951EE78C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7295" y="1687727"/>
            <a:ext cx="4769959" cy="453947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OUTPUT SCREENSHOTS </a:t>
            </a:r>
          </a:p>
        </p:txBody>
      </p:sp>
      <p:sp>
        <p:nvSpPr>
          <p:cNvPr id="6" name="Slide Number Placeholder 5"/>
          <p:cNvSpPr>
            <a:spLocks noGrp="1"/>
          </p:cNvSpPr>
          <p:nvPr>
            <p:ph type="sldNum" sz="quarter" idx="12"/>
          </p:nvPr>
        </p:nvSpPr>
        <p:spPr/>
        <p:txBody>
          <a:bodyPr/>
          <a:lstStyle/>
          <a:p>
            <a:fld id="{330EA680-D336-4FF7-8B7A-9848BB0A1C32}" type="slidenum">
              <a:rPr lang="en-US" smtClean="0"/>
              <a:t>12</a:t>
            </a:fld>
            <a:endParaRPr lang="en-US"/>
          </a:p>
        </p:txBody>
      </p:sp>
      <p:pic>
        <p:nvPicPr>
          <p:cNvPr id="7" name="Picture 6">
            <a:extLst>
              <a:ext uri="{FF2B5EF4-FFF2-40B4-BE49-F238E27FC236}">
                <a16:creationId xmlns:a16="http://schemas.microsoft.com/office/drawing/2014/main" id="{D4BC7B91-9437-20B0-2B36-F955F92750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0616" y="1540789"/>
            <a:ext cx="4720628" cy="4620493"/>
          </a:xfrm>
          <a:prstGeom prst="rect">
            <a:avLst/>
          </a:prstGeom>
        </p:spPr>
      </p:pic>
      <p:pic>
        <p:nvPicPr>
          <p:cNvPr id="8" name="Picture 7">
            <a:extLst>
              <a:ext uri="{FF2B5EF4-FFF2-40B4-BE49-F238E27FC236}">
                <a16:creationId xmlns:a16="http://schemas.microsoft.com/office/drawing/2014/main" id="{5017B44B-2A3C-21FE-86B0-226024936D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30757" y="1540789"/>
            <a:ext cx="4850524" cy="462049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OUTPUT SCREENSHOTS </a:t>
            </a:r>
          </a:p>
        </p:txBody>
      </p:sp>
      <p:sp>
        <p:nvSpPr>
          <p:cNvPr id="6" name="Slide Number Placeholder 5"/>
          <p:cNvSpPr>
            <a:spLocks noGrp="1"/>
          </p:cNvSpPr>
          <p:nvPr>
            <p:ph type="sldNum" sz="quarter" idx="12"/>
          </p:nvPr>
        </p:nvSpPr>
        <p:spPr/>
        <p:txBody>
          <a:bodyPr/>
          <a:lstStyle/>
          <a:p>
            <a:fld id="{330EA680-D336-4FF7-8B7A-9848BB0A1C32}" type="slidenum">
              <a:rPr lang="en-US" smtClean="0"/>
              <a:t>13</a:t>
            </a:fld>
            <a:endParaRPr lang="en-US"/>
          </a:p>
        </p:txBody>
      </p:sp>
      <p:pic>
        <p:nvPicPr>
          <p:cNvPr id="5" name="Picture 4">
            <a:extLst>
              <a:ext uri="{FF2B5EF4-FFF2-40B4-BE49-F238E27FC236}">
                <a16:creationId xmlns:a16="http://schemas.microsoft.com/office/drawing/2014/main" id="{9665E7A2-54B3-69A5-1D57-D8FA0D6B20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21957" y="1369436"/>
            <a:ext cx="4651201" cy="4742711"/>
          </a:xfrm>
          <a:prstGeom prst="rect">
            <a:avLst/>
          </a:prstGeom>
        </p:spPr>
      </p:pic>
      <p:pic>
        <p:nvPicPr>
          <p:cNvPr id="7" name="Picture 6">
            <a:extLst>
              <a:ext uri="{FF2B5EF4-FFF2-40B4-BE49-F238E27FC236}">
                <a16:creationId xmlns:a16="http://schemas.microsoft.com/office/drawing/2014/main" id="{5980C572-E1BB-CF3C-34BD-D02DEFEEE6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79757" y="1244177"/>
            <a:ext cx="4626627" cy="48679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753" y="690801"/>
            <a:ext cx="10213411" cy="1325563"/>
          </a:xfrm>
        </p:spPr>
        <p:txBody>
          <a:bodyPr>
            <a:normAutofit/>
          </a:bodyPr>
          <a:lstStyle/>
          <a:p>
            <a:pPr algn="ctr"/>
            <a:r>
              <a:rPr lang="en-IN" sz="3000" b="1"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sz="half" idx="1"/>
          </p:nvPr>
        </p:nvSpPr>
        <p:spPr>
          <a:xfrm>
            <a:off x="934755" y="2126251"/>
            <a:ext cx="10322490" cy="3059526"/>
          </a:xfrm>
        </p:spPr>
        <p:txBody>
          <a:bodyPr/>
          <a:lstStyle/>
          <a:p>
            <a:pPr marL="0" indent="0" algn="just">
              <a:buNone/>
            </a:pPr>
            <a:r>
              <a:rPr lang="en-US" altLang="en-US" sz="2400" dirty="0">
                <a:latin typeface="Times New Roman" panose="02020603050405020304" pitchFamily="18" charset="0"/>
                <a:cs typeface="Times New Roman" panose="02020603050405020304" pitchFamily="18" charset="0"/>
              </a:rPr>
              <a:t>The Cyberbullying Detection System successfully demonstrates the use of Machine Learning and NLP to automatically identify and manage abusive text content. By integrating a Logistic Regression model with FastAPI, the system efficiently detects cyberbullying, issues warnings, blocks repeat offenders, and maintains structured records. The inclusion of an admin dashboard and PDF report generation enhances monitoring and documentation. Overall, the project provides an effective, scalable, and practical solution for improving online safety and reducing manual moderation efforts.</a:t>
            </a:r>
          </a:p>
        </p:txBody>
      </p:sp>
      <p:sp>
        <p:nvSpPr>
          <p:cNvPr id="6" name="Slide Number Placeholder 5"/>
          <p:cNvSpPr>
            <a:spLocks noGrp="1"/>
          </p:cNvSpPr>
          <p:nvPr>
            <p:ph type="sldNum" sz="quarter" idx="12"/>
          </p:nvPr>
        </p:nvSpPr>
        <p:spPr/>
        <p:txBody>
          <a:bodyPr/>
          <a:lstStyle/>
          <a:p>
            <a:fld id="{330EA680-D336-4FF7-8B7A-9848BB0A1C32}"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1087676" y="1544313"/>
            <a:ext cx="9484291" cy="4618494"/>
          </a:xfrm>
        </p:spPr>
        <p:txBody>
          <a:bodyPr vert="horz" lIns="91440" tIns="45720" rIns="91440" bIns="45720" rtlCol="0" anchor="t">
            <a:noAutofit/>
          </a:bodyPr>
          <a:lstStyle/>
          <a:p>
            <a:pPr marL="0" indent="0">
              <a:lnSpc>
                <a:spcPct val="100000"/>
              </a:lnSpc>
              <a:buNone/>
            </a:pPr>
            <a:r>
              <a:rPr lang="en-IN"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Wikipedia – Cyberbullying:</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2"/>
              </a:rPr>
              <a:t>https://en.wikipedia.org/wiki/Cyberbullying</a:t>
            </a:r>
            <a:endParaRPr lang="en-IN" sz="2400" dirty="0">
              <a:latin typeface="Times New Roman" panose="02020603050405020304" pitchFamily="18" charset="0"/>
              <a:cs typeface="Times New Roman" panose="02020603050405020304" pitchFamily="18" charset="0"/>
            </a:endParaRPr>
          </a:p>
          <a:p>
            <a:pPr marL="0" indent="0">
              <a:lnSpc>
                <a:spcPct val="100000"/>
              </a:lnSpc>
              <a:buNone/>
            </a:pP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SkillDzire – Dataset Source for Cyberbullying Project</a:t>
            </a:r>
            <a:br>
              <a:rPr lang="en-IN" sz="2400" b="1"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3"/>
              </a:rPr>
              <a:t>https://skilldzire.com/</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(Primary dataset provider used for model training and testing.) </a:t>
            </a:r>
          </a:p>
          <a:p>
            <a:pPr marL="0" indent="0">
              <a:lnSpc>
                <a:spcPct val="100000"/>
              </a:lnSpc>
              <a:buNone/>
            </a:pPr>
            <a:r>
              <a:rPr lang="en-IN" sz="2400" dirty="0">
                <a:latin typeface="Times New Roman" panose="02020603050405020304" pitchFamily="18" charset="0"/>
                <a:cs typeface="Times New Roman" panose="02020603050405020304" pitchFamily="18" charset="0"/>
              </a:rPr>
              <a:t>• Scikit-Learn Documentation: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4"/>
              </a:rPr>
              <a:t>https://scikit-learn.org/</a:t>
            </a:r>
            <a:r>
              <a:rPr lang="en-IN" sz="2400" dirty="0">
                <a:latin typeface="Times New Roman" panose="02020603050405020304" pitchFamily="18" charset="0"/>
                <a:cs typeface="Times New Roman" panose="02020603050405020304" pitchFamily="18" charset="0"/>
              </a:rPr>
              <a:t> </a:t>
            </a:r>
          </a:p>
          <a:p>
            <a:pPr marL="0" indent="0">
              <a:lnSpc>
                <a:spcPct val="100000"/>
              </a:lnSpc>
              <a:buNone/>
            </a:pPr>
            <a:r>
              <a:rPr lang="en-IN" sz="2400" dirty="0">
                <a:latin typeface="Times New Roman" panose="02020603050405020304" pitchFamily="18" charset="0"/>
                <a:cs typeface="Times New Roman" panose="02020603050405020304" pitchFamily="18" charset="0"/>
              </a:rPr>
              <a:t>• TutorialsPoint – Machine Learning &amp; NLP Basics: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5"/>
              </a:rPr>
              <a:t>https://www.tutorialspoint.com/</a:t>
            </a:r>
            <a:r>
              <a:rPr lang="en-IN" sz="2400" dirty="0">
                <a:latin typeface="Times New Roman" panose="02020603050405020304" pitchFamily="18" charset="0"/>
                <a:cs typeface="Times New Roman" panose="02020603050405020304" pitchFamily="18" charset="0"/>
              </a:rPr>
              <a:t> </a:t>
            </a:r>
            <a:endParaRPr lang="en-US" altLang="en-US" sz="24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15</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9984288" cy="2671219"/>
          </a:xfrm>
        </p:spPr>
        <p:txBody>
          <a:bodyPr>
            <a:normAutofit/>
          </a:bodyPr>
          <a:lstStyle/>
          <a:p>
            <a:pPr marL="0" indent="0" algn="ctr">
              <a:buNone/>
            </a:pPr>
            <a:endParaRPr lang="en-US" sz="6000" dirty="0">
              <a:latin typeface="Aparajita" panose="02020603050405020304" pitchFamily="18" charset="0"/>
              <a:cs typeface="Aparajita" panose="02020603050405020304" pitchFamily="18" charset="0"/>
            </a:endParaRPr>
          </a:p>
          <a:p>
            <a:pPr marL="0" indent="0" algn="ctr">
              <a:buNone/>
            </a:pPr>
            <a:r>
              <a:rPr lang="en-US" sz="6600" b="1" dirty="0">
                <a:latin typeface="Times New Roman" panose="02020603050405020304" pitchFamily="18" charset="0"/>
                <a:cs typeface="Times New Roman" panose="02020603050405020304" pitchFamily="18" charset="0"/>
              </a:rPr>
              <a:t>Thank You</a:t>
            </a: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16</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74</TotalTime>
  <Words>898</Words>
  <Application>Microsoft Macintosh PowerPoint</Application>
  <PresentationFormat>Widescreen</PresentationFormat>
  <Paragraphs>77</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Aparajita</vt:lpstr>
      <vt:lpstr>Arial</vt:lpstr>
      <vt:lpstr>Calibri</vt:lpstr>
      <vt:lpstr>Calibri Light</vt:lpstr>
      <vt:lpstr>Times New Roman</vt:lpstr>
      <vt:lpstr>Wingdings</vt:lpstr>
      <vt:lpstr>Office Theme</vt:lpstr>
      <vt:lpstr> </vt:lpstr>
      <vt:lpstr>Contents</vt:lpstr>
      <vt:lpstr>                        CERTIFICATE </vt:lpstr>
      <vt:lpstr>                           ABSTRACT</vt:lpstr>
      <vt:lpstr>PROBLEM STATEMENT</vt:lpstr>
      <vt:lpstr>LIMITATIONS IN EXISTING SYSTEM</vt:lpstr>
      <vt:lpstr>   PROPOSED METHODOLOGY/ARCHITECTURE [Work Flow Diagram ] </vt:lpstr>
      <vt:lpstr>FLOW GRAPH:</vt:lpstr>
      <vt:lpstr>PROPOSED SYSTEM</vt:lpstr>
      <vt:lpstr>IMPLEMENTATION [ CODING FILES ]</vt:lpstr>
      <vt:lpstr>OUTPUT SCREENSHOTS </vt:lpstr>
      <vt:lpstr>OUTPUT SCREENSHOTS </vt:lpstr>
      <vt:lpstr>OUTPUT SCREENSHOTS </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ABITHA CHAMARTY</dc:creator>
  <cp:lastModifiedBy>SOWJANYA REDDY</cp:lastModifiedBy>
  <cp:revision>970</cp:revision>
  <dcterms:created xsi:type="dcterms:W3CDTF">2022-08-17T05:25:00Z</dcterms:created>
  <dcterms:modified xsi:type="dcterms:W3CDTF">2025-12-23T16:56:40Z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FF02FFE21E634ADBA08228E8B26136EE_13</vt:lpwstr>
  </property>
  <property fmtid="{D5CDD505-2E9C-101B-9397-08002B2CF9AE}" pid="3" name="KSOProductBuildVer">
    <vt:lpwstr>1033-12.2.0.19307</vt:lpwstr>
  </property>
</Properties>
</file>