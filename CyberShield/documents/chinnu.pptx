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04" r:id="rId2"/>
    <p:sldId id="306" r:id="rId3"/>
    <p:sldId id="274" r:id="rId4"/>
    <p:sldId id="258" r:id="rId5"/>
    <p:sldId id="259" r:id="rId6"/>
    <p:sldId id="273" r:id="rId7"/>
    <p:sldId id="261" r:id="rId8"/>
    <p:sldId id="337" r:id="rId9"/>
    <p:sldId id="262" r:id="rId10"/>
    <p:sldId id="264" r:id="rId11"/>
    <p:sldId id="329" r:id="rId12"/>
    <p:sldId id="331" r:id="rId13"/>
    <p:sldId id="336" r:id="rId14"/>
    <p:sldId id="330" r:id="rId15"/>
    <p:sldId id="266" r:id="rId16"/>
    <p:sldId id="32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3" autoAdjust="0"/>
    <p:restoredTop sz="94660"/>
  </p:normalViewPr>
  <p:slideViewPr>
    <p:cSldViewPr snapToGrid="0" showGuides="1">
      <p:cViewPr varScale="1">
        <p:scale>
          <a:sx n="89" d="100"/>
          <a:sy n="89" d="100"/>
        </p:scale>
        <p:origin x="192" y="776"/>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23/12/25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12/23/25</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12/23/25</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12/23/25</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skilldzire.com/"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5" Type="http://schemas.openxmlformats.org/officeDocument/2006/relationships/hyperlink" Target="https://www.tutorialspoint.com/" TargetMode="External"/><Relationship Id="rId4" Type="http://schemas.openxmlformats.org/officeDocument/2006/relationships/hyperlink" Target="https://scikit-learn.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31619"/>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Kanagala Chinmayi(</a:t>
            </a:r>
            <a:r>
              <a:rPr lang="en-IN" altLang="en-US" sz="1800" dirty="0">
                <a:latin typeface="Times New Roman" panose="02020603050405020304" pitchFamily="18" charset="0"/>
                <a:cs typeface="Times New Roman" panose="02020603050405020304" pitchFamily="18" charset="0"/>
              </a:rPr>
              <a:t>323103210097</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407203" y="2203772"/>
            <a:ext cx="3111788" cy="1799590"/>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D. Indu</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Assistant Professor</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34101"/>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185796" y="50197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750879"/>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sz="3200" b="1" dirty="0">
                <a:latin typeface="Times New Roman" panose="02020603050405020304" pitchFamily="18" charset="0"/>
                <a:ea typeface="+mj-lt"/>
                <a:cs typeface="Times New Roman" panose="02020603050405020304" pitchFamily="18" charset="0"/>
              </a:rPr>
              <a:t>CYBERBULLYING DETECTION</a:t>
            </a:r>
            <a:endParaRPr lang="en-IN" altLang="en-US" sz="3200" b="1" dirty="0">
              <a:latin typeface="Times New Roman" panose="02020603050405020304" pitchFamily="18" charset="0"/>
              <a:ea typeface="+mj-lt"/>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90" y="1731569"/>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537" y="500251"/>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69"/>
            <a:ext cx="10515600" cy="5362827"/>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Limitations in 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Flow Graph</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Output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6" y="319088"/>
            <a:ext cx="10351835" cy="624430"/>
          </a:xfrm>
        </p:spPr>
        <p:txBody>
          <a:bodyPr>
            <a:noAutofit/>
          </a:bodyPr>
          <a:lstStyle/>
          <a:p>
            <a:pPr algn="ctr"/>
            <a:r>
              <a:rPr lang="en-US" sz="4800" b="1" dirty="0">
                <a:latin typeface="Times New Roman" panose="02020603050405020304" pitchFamily="18" charset="0"/>
                <a:cs typeface="Times New Roman" panose="02020603050405020304" pitchFamily="18" charset="0"/>
              </a:rPr>
              <a:t>                       </a:t>
            </a:r>
            <a:br>
              <a:rPr lang="en-US" sz="4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CERTIFICATE</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4" name="Picture 3">
            <a:extLst>
              <a:ext uri="{FF2B5EF4-FFF2-40B4-BE49-F238E27FC236}">
                <a16:creationId xmlns:a16="http://schemas.microsoft.com/office/drawing/2014/main" id="{25A6C20F-6C19-FDF3-AC0C-D125BD294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993" y="943518"/>
            <a:ext cx="7772400" cy="54877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542596"/>
            <a:ext cx="10515600" cy="4351338"/>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mn-lt"/>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The Cyberbullying Detection System is a machine-learning based web service that identifies abusive or harmful text in real time. It is built using Python, FastAPI, and scikit-learn with a Logistic Regression classifier. User input is cleaned, converted into TF-IDF vectors, and classified as safe or cyberbullying using NLP techniques. Detected abusive messages are logged and offense counts are maintained for each user. The system issues warnings and automatically blocks users after three offenses. A PDF report generator provides statistics for monitoring, cybersecurity analysis, and digital safety research. A browser-accessible FastAPI interface makes the application lightweight and easy to integrate.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808" y="675093"/>
            <a:ext cx="10406380" cy="1026795"/>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197427" y="1856239"/>
            <a:ext cx="9797143" cy="4191410"/>
          </a:xfrm>
        </p:spPr>
        <p:txBody>
          <a:bodyPr vert="horz" lIns="91440" tIns="45720" rIns="91440" bIns="45720" rtlCol="0" anchor="t">
            <a:normAutofit/>
          </a:bodyPr>
          <a:lstStyle/>
          <a:p>
            <a:pPr marL="0" indent="0" algn="just">
              <a:buNone/>
            </a:pPr>
            <a:r>
              <a:rPr lang="en-US" sz="2400" dirty="0">
                <a:latin typeface="Times New Roman" panose="02020603050405020304" pitchFamily="18" charset="0"/>
                <a:cs typeface="Times New Roman" panose="02020603050405020304" pitchFamily="18" charset="0"/>
              </a:rPr>
              <a:t>The rapid growth of online communication platforms has led to an increase in cyberbullying incidents, which negatively impact mental health and digital safety. Existing systems rely heavily on manual monitoring, making it difficult to detect abusive content in real time. Delayed responses allow harmful comments to remain visible and repeat offenders to continue their behavior. There is a lack of automated mechanisms to classify text, issue warnings, block users, and generate reports. Hence, an efficient system is required to automatically detect cyberbullying using Machine Learning and NLP techniques, enforce moderation rules, and provide analytical insights for administrators.</a:t>
            </a: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bg1"/>
          </a:solidFill>
        </p:spPr>
        <p:txBody>
          <a:bodyPr/>
          <a:lstStyle/>
          <a:p>
            <a:pPr algn="ct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0417628" y="6356350"/>
            <a:ext cx="936171" cy="365125"/>
          </a:xfrm>
        </p:spPr>
        <p:txBody>
          <a:bodyPr/>
          <a:lstStyle/>
          <a:p>
            <a:fld id="{330EA680-D336-4FF7-8B7A-9848BB0A1C32}" type="slidenum">
              <a:rPr lang="en-US" sz="2000" b="1" smtClean="0">
                <a:latin typeface="Aparajita" panose="02020603050405020304" pitchFamily="18" charset="0"/>
                <a:cs typeface="Aparajita" panose="02020603050405020304" pitchFamily="18" charset="0"/>
              </a:rPr>
              <a:t>6</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a:xfrm>
            <a:off x="838200" y="1690688"/>
            <a:ext cx="10515599" cy="4437064"/>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Cyberbullying detection is mainly performed manually, which is time-consuming and inefficient.</a:t>
            </a:r>
          </a:p>
          <a:p>
            <a:pPr>
              <a:lnSpc>
                <a:spcPct val="150000"/>
              </a:lnSpc>
            </a:pPr>
            <a:r>
              <a:rPr lang="en-IN" sz="2000" dirty="0">
                <a:latin typeface="Times New Roman" panose="02020603050405020304" pitchFamily="18" charset="0"/>
                <a:cs typeface="Times New Roman" panose="02020603050405020304" pitchFamily="18" charset="0"/>
              </a:rPr>
              <a:t>Human moderation causes delays in identifying abusive content, allowing harmful messages to remain visible.</a:t>
            </a:r>
          </a:p>
          <a:p>
            <a:pPr>
              <a:lnSpc>
                <a:spcPct val="150000"/>
              </a:lnSpc>
            </a:pPr>
            <a:r>
              <a:rPr lang="en-IN" sz="2000" dirty="0">
                <a:latin typeface="Times New Roman" panose="02020603050405020304" pitchFamily="18" charset="0"/>
                <a:cs typeface="Times New Roman" panose="02020603050405020304" pitchFamily="18" charset="0"/>
              </a:rPr>
              <a:t>There is no automated warning or blocking mechanism for repeat offenders.</a:t>
            </a:r>
          </a:p>
          <a:p>
            <a:pPr>
              <a:lnSpc>
                <a:spcPct val="150000"/>
              </a:lnSpc>
            </a:pPr>
            <a:r>
              <a:rPr lang="en-IN" sz="2000" dirty="0">
                <a:latin typeface="Times New Roman" panose="02020603050405020304" pitchFamily="18" charset="0"/>
                <a:cs typeface="Times New Roman" panose="02020603050405020304" pitchFamily="18" charset="0"/>
              </a:rPr>
              <a:t>Existing systems lack intelligent analysis using Machine Learning or NLP.</a:t>
            </a:r>
          </a:p>
          <a:p>
            <a:pPr>
              <a:lnSpc>
                <a:spcPct val="150000"/>
              </a:lnSpc>
            </a:pPr>
            <a:r>
              <a:rPr lang="en-IN" sz="2000" dirty="0">
                <a:latin typeface="Times New Roman" panose="02020603050405020304" pitchFamily="18" charset="0"/>
                <a:cs typeface="Times New Roman" panose="02020603050405020304" pitchFamily="18" charset="0"/>
              </a:rPr>
              <a:t>Maintaining records of abusive users and messages is unstructured or inconsistent.</a:t>
            </a:r>
          </a:p>
          <a:p>
            <a:pPr>
              <a:lnSpc>
                <a:spcPct val="150000"/>
              </a:lnSpc>
            </a:pPr>
            <a:r>
              <a:rPr lang="en-IN" sz="2000" dirty="0">
                <a:latin typeface="Times New Roman" panose="02020603050405020304" pitchFamily="18" charset="0"/>
                <a:cs typeface="Times New Roman" panose="02020603050405020304" pitchFamily="18" charset="0"/>
              </a:rPr>
              <a:t>Administrators have limited visibility and analytics on cyberbullying patterns.</a:t>
            </a:r>
          </a:p>
          <a:p>
            <a:pPr>
              <a:lnSpc>
                <a:spcPct val="150000"/>
              </a:lnSpc>
            </a:pPr>
            <a:r>
              <a:rPr lang="en-IN" sz="2000" dirty="0">
                <a:latin typeface="Times New Roman" panose="02020603050405020304" pitchFamily="18" charset="0"/>
                <a:cs typeface="Times New Roman" panose="02020603050405020304" pitchFamily="18" charset="0"/>
              </a:rPr>
              <a:t>There is no automated report generation for monitoring and documentation purposes.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8" y="319088"/>
            <a:ext cx="10885117" cy="1296770"/>
          </a:xfrm>
        </p:spPr>
        <p:txBody>
          <a:bodyPr>
            <a:normAutofit fontScale="90000"/>
          </a:bodyPr>
          <a:lstStyle/>
          <a:p>
            <a:pPr marL="0" indent="0" algn="ct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PROPOSED METHODOLOGY/ARCHITECTURE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pic>
        <p:nvPicPr>
          <p:cNvPr id="22" name="Picture 21">
            <a:extLst>
              <a:ext uri="{FF2B5EF4-FFF2-40B4-BE49-F238E27FC236}">
                <a16:creationId xmlns:a16="http://schemas.microsoft.com/office/drawing/2014/main" id="{5E9FA22C-8F2D-A416-2315-2387E5550933}"/>
              </a:ext>
            </a:extLst>
          </p:cNvPr>
          <p:cNvPicPr>
            <a:picLocks noChangeAspect="1"/>
          </p:cNvPicPr>
          <p:nvPr/>
        </p:nvPicPr>
        <p:blipFill rotWithShape="1">
          <a:blip r:embed="rId2"/>
          <a:srcRect l="7674" t="10404" r="9480"/>
          <a:stretch>
            <a:fillRect/>
          </a:stretch>
        </p:blipFill>
        <p:spPr bwMode="auto">
          <a:xfrm>
            <a:off x="572023" y="1494007"/>
            <a:ext cx="6744476" cy="4862343"/>
          </a:xfrm>
          <a:prstGeom prst="rect">
            <a:avLst/>
          </a:prstGeom>
          <a:ln>
            <a:noFill/>
          </a:ln>
          <a:extLst>
            <a:ext uri="{53640926-AAD7-44D8-BBD7-CCE9431645EC}">
              <a14:shadowObscured xmlns:a14="http://schemas.microsoft.com/office/drawing/2010/main"/>
            </a:ext>
          </a:extLst>
        </p:spPr>
      </p:pic>
      <p:pic>
        <p:nvPicPr>
          <p:cNvPr id="31" name="Picture 30">
            <a:extLst>
              <a:ext uri="{FF2B5EF4-FFF2-40B4-BE49-F238E27FC236}">
                <a16:creationId xmlns:a16="http://schemas.microsoft.com/office/drawing/2014/main" id="{96512D47-B58E-B652-13C8-9C4A83160840}"/>
              </a:ext>
            </a:extLst>
          </p:cNvPr>
          <p:cNvPicPr>
            <a:picLocks noChangeAspect="1"/>
          </p:cNvPicPr>
          <p:nvPr/>
        </p:nvPicPr>
        <p:blipFill>
          <a:blip r:embed="rId3"/>
          <a:srcRect b="6172"/>
          <a:stretch>
            <a:fillRect/>
          </a:stretch>
        </p:blipFill>
        <p:spPr>
          <a:xfrm>
            <a:off x="7866573" y="1577687"/>
            <a:ext cx="2673366" cy="1543602"/>
          </a:xfrm>
          <a:prstGeom prst="rect">
            <a:avLst/>
          </a:prstGeom>
        </p:spPr>
      </p:pic>
      <p:pic>
        <p:nvPicPr>
          <p:cNvPr id="32" name="Picture 31">
            <a:extLst>
              <a:ext uri="{FF2B5EF4-FFF2-40B4-BE49-F238E27FC236}">
                <a16:creationId xmlns:a16="http://schemas.microsoft.com/office/drawing/2014/main" id="{98121FB7-EEE9-A00C-FC23-28868CB108C9}"/>
              </a:ext>
            </a:extLst>
          </p:cNvPr>
          <p:cNvPicPr>
            <a:picLocks noChangeAspect="1"/>
          </p:cNvPicPr>
          <p:nvPr/>
        </p:nvPicPr>
        <p:blipFill>
          <a:blip r:embed="rId4"/>
          <a:stretch>
            <a:fillRect/>
          </a:stretch>
        </p:blipFill>
        <p:spPr>
          <a:xfrm>
            <a:off x="9686793" y="3172139"/>
            <a:ext cx="1749193" cy="1721124"/>
          </a:xfrm>
          <a:prstGeom prst="rect">
            <a:avLst/>
          </a:prstGeom>
        </p:spPr>
      </p:pic>
      <p:pic>
        <p:nvPicPr>
          <p:cNvPr id="35" name="Picture 34">
            <a:extLst>
              <a:ext uri="{FF2B5EF4-FFF2-40B4-BE49-F238E27FC236}">
                <a16:creationId xmlns:a16="http://schemas.microsoft.com/office/drawing/2014/main" id="{DCEC8C48-BD8D-1C5C-A8FD-9585115BA7D2}"/>
              </a:ext>
            </a:extLst>
          </p:cNvPr>
          <p:cNvPicPr>
            <a:picLocks noChangeAspect="1"/>
          </p:cNvPicPr>
          <p:nvPr/>
        </p:nvPicPr>
        <p:blipFill>
          <a:blip r:embed="rId5"/>
          <a:srcRect l="8899" t="11565" r="10659" b="14010"/>
          <a:stretch>
            <a:fillRect/>
          </a:stretch>
        </p:blipFill>
        <p:spPr>
          <a:xfrm>
            <a:off x="7674276" y="4455484"/>
            <a:ext cx="2012517" cy="1850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12247-F4A3-6398-9E51-617219E8587C}"/>
              </a:ext>
            </a:extLst>
          </p:cNvPr>
          <p:cNvSpPr>
            <a:spLocks noGrp="1"/>
          </p:cNvSpPr>
          <p:nvPr>
            <p:ph type="title"/>
          </p:nvPr>
        </p:nvSpPr>
        <p:spPr>
          <a:xfrm>
            <a:off x="850726" y="601576"/>
            <a:ext cx="3282863" cy="1112946"/>
          </a:xfrm>
        </p:spPr>
        <p:txBody>
          <a:bodyPr>
            <a:normAutofit/>
          </a:bodyPr>
          <a:lstStyle/>
          <a:p>
            <a:r>
              <a:rPr lang="en-US" sz="3200" b="1" dirty="0">
                <a:latin typeface="Times New Roman" panose="02020603050405020304" pitchFamily="18" charset="0"/>
                <a:cs typeface="Times New Roman" panose="02020603050405020304" pitchFamily="18" charset="0"/>
              </a:rPr>
              <a:t>FLOW GRAPH:</a:t>
            </a:r>
          </a:p>
        </p:txBody>
      </p:sp>
      <p:sp>
        <p:nvSpPr>
          <p:cNvPr id="5" name="Slide Number Placeholder 4">
            <a:extLst>
              <a:ext uri="{FF2B5EF4-FFF2-40B4-BE49-F238E27FC236}">
                <a16:creationId xmlns:a16="http://schemas.microsoft.com/office/drawing/2014/main" id="{BFBCB498-0F05-8879-3E2A-23097493E529}"/>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8" name="Picture 7">
            <a:extLst>
              <a:ext uri="{FF2B5EF4-FFF2-40B4-BE49-F238E27FC236}">
                <a16:creationId xmlns:a16="http://schemas.microsoft.com/office/drawing/2014/main" id="{BE343B5A-98F2-2F40-1258-0BA75770C754}"/>
              </a:ext>
            </a:extLst>
          </p:cNvPr>
          <p:cNvPicPr>
            <a:picLocks noChangeAspect="1"/>
          </p:cNvPicPr>
          <p:nvPr/>
        </p:nvPicPr>
        <p:blipFill>
          <a:blip r:embed="rId2"/>
          <a:srcRect t="5324" b="11964"/>
          <a:stretch>
            <a:fillRect/>
          </a:stretch>
        </p:blipFill>
        <p:spPr>
          <a:xfrm>
            <a:off x="4536509" y="601576"/>
            <a:ext cx="5334001" cy="5937336"/>
          </a:xfrm>
          <a:prstGeom prst="rect">
            <a:avLst/>
          </a:prstGeom>
        </p:spPr>
      </p:pic>
    </p:spTree>
    <p:extLst>
      <p:ext uri="{BB962C8B-B14F-4D97-AF65-F5344CB8AC3E}">
        <p14:creationId xmlns:p14="http://schemas.microsoft.com/office/powerpoint/2010/main" val="320589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1185275" y="1512926"/>
            <a:ext cx="9821450" cy="4624828"/>
          </a:xfrm>
        </p:spPr>
        <p:txBody>
          <a:bodyPr>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The proposed system implements an automated cyberbullying detection framework using Machine Learning and NLP. User comments are analyzed in real time and classified as safe or abusive using a trained Logistic Regression model with TF-IDF features. Abusive comments are hidden automatically, warnings are issued, and repeat offenders are blocked after multiple violations. All activities are stored in structured JSON files. The system also provides an admin dashboard and generates PDF reports for monitoring and documentation, ensuring efficient and timely moderation.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7790"/>
          </a:xfrm>
        </p:spPr>
        <p:txBody>
          <a:bodyPr/>
          <a:lstStyle/>
          <a:p>
            <a:pPr algn="ctr"/>
            <a:r>
              <a:rPr lang="en-US" sz="3200" b="1" dirty="0">
                <a:latin typeface="Times New Roman" panose="02020603050405020304" pitchFamily="18" charset="0"/>
                <a:cs typeface="Times New Roman" panose="02020603050405020304" pitchFamily="18" charset="0"/>
              </a:rPr>
              <a:t>IMPLEMENTATION [ CODING FILES ]</a:t>
            </a:r>
          </a:p>
        </p:txBody>
      </p:sp>
      <p:sp>
        <p:nvSpPr>
          <p:cNvPr id="9" name="Content Placeholder 8"/>
          <p:cNvSpPr>
            <a:spLocks noGrp="1"/>
          </p:cNvSpPr>
          <p:nvPr>
            <p:ph sz="half" idx="1"/>
          </p:nvPr>
        </p:nvSpPr>
        <p:spPr>
          <a:xfrm>
            <a:off x="838200" y="1302708"/>
            <a:ext cx="8801100" cy="5190168"/>
          </a:xfrm>
        </p:spPr>
        <p:txBody>
          <a:bodyPr vert="horz" lIns="91440" tIns="45720" rIns="91440" bIns="45720" rtlCol="0" anchor="t">
            <a:noAutofit/>
          </a:bodyPr>
          <a:lstStyle/>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The Cyberbullying Detection System is implemented using Python and FastAPI, with Machine Learning and NLP for text classification. A Logistic Regression model is trained offline using a labeled dataset, where text is preprocessed and converted into numerical features using TF-IDF vectorization. The trained model and vectorizer are saved using joblib.</a:t>
            </a:r>
          </a:p>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In the backend, FastAPI loads the trained model and processes user input through API endpoints. When a comment is submitted, the system first checks whether the user is blocked, then cleans the text and predicts whether it is safe or abusive. Abusive comments trigger warnings, and repeated offenses lead to permanent user blocking. All moderation data is stored in JSON files. An admin dashboard displays system statistics, and PDF reports are generated using ReportLab for monitoring and documentation.</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10</a:t>
            </a:fld>
            <a:endParaRPr lang="en-US" sz="2000" b="1" dirty="0">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568DAE3A-F723-1C47-E9A6-2895F9C230C4}"/>
              </a:ext>
            </a:extLst>
          </p:cNvPr>
          <p:cNvPicPr>
            <a:picLocks noChangeAspect="1"/>
          </p:cNvPicPr>
          <p:nvPr/>
        </p:nvPicPr>
        <p:blipFill>
          <a:blip r:embed="rId2"/>
          <a:stretch>
            <a:fillRect/>
          </a:stretch>
        </p:blipFill>
        <p:spPr>
          <a:xfrm>
            <a:off x="9807096" y="2267212"/>
            <a:ext cx="2030000" cy="203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11</a:t>
            </a:fld>
            <a:endParaRPr lang="en-US"/>
          </a:p>
        </p:txBody>
      </p:sp>
      <p:pic>
        <p:nvPicPr>
          <p:cNvPr id="7" name="Picture 6">
            <a:extLst>
              <a:ext uri="{FF2B5EF4-FFF2-40B4-BE49-F238E27FC236}">
                <a16:creationId xmlns:a16="http://schemas.microsoft.com/office/drawing/2014/main" id="{91C2FBF6-78F1-E175-6159-CFF090B8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484" y="1687727"/>
            <a:ext cx="4652528" cy="4626337"/>
          </a:xfrm>
          <a:prstGeom prst="rect">
            <a:avLst/>
          </a:prstGeom>
        </p:spPr>
      </p:pic>
      <p:pic>
        <p:nvPicPr>
          <p:cNvPr id="8" name="Picture 7">
            <a:extLst>
              <a:ext uri="{FF2B5EF4-FFF2-40B4-BE49-F238E27FC236}">
                <a16:creationId xmlns:a16="http://schemas.microsoft.com/office/drawing/2014/main" id="{D9B64B09-C6A6-2478-B63C-A1951EE78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7295" y="1687727"/>
            <a:ext cx="4769959" cy="4539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12</a:t>
            </a:fld>
            <a:endParaRPr lang="en-US"/>
          </a:p>
        </p:txBody>
      </p:sp>
      <p:pic>
        <p:nvPicPr>
          <p:cNvPr id="7" name="Picture 6">
            <a:extLst>
              <a:ext uri="{FF2B5EF4-FFF2-40B4-BE49-F238E27FC236}">
                <a16:creationId xmlns:a16="http://schemas.microsoft.com/office/drawing/2014/main" id="{D4BC7B91-9437-20B0-2B36-F955F9275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616" y="1540789"/>
            <a:ext cx="4720628" cy="4620493"/>
          </a:xfrm>
          <a:prstGeom prst="rect">
            <a:avLst/>
          </a:prstGeom>
        </p:spPr>
      </p:pic>
      <p:pic>
        <p:nvPicPr>
          <p:cNvPr id="8" name="Picture 7">
            <a:extLst>
              <a:ext uri="{FF2B5EF4-FFF2-40B4-BE49-F238E27FC236}">
                <a16:creationId xmlns:a16="http://schemas.microsoft.com/office/drawing/2014/main" id="{5017B44B-2A3C-21FE-86B0-226024936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0757" y="1540789"/>
            <a:ext cx="4850524" cy="46204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13</a:t>
            </a:fld>
            <a:endParaRPr lang="en-US"/>
          </a:p>
        </p:txBody>
      </p:sp>
      <p:pic>
        <p:nvPicPr>
          <p:cNvPr id="5" name="Picture 4">
            <a:extLst>
              <a:ext uri="{FF2B5EF4-FFF2-40B4-BE49-F238E27FC236}">
                <a16:creationId xmlns:a16="http://schemas.microsoft.com/office/drawing/2014/main" id="{9665E7A2-54B3-69A5-1D57-D8FA0D6B2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957" y="1369436"/>
            <a:ext cx="4651201" cy="4742711"/>
          </a:xfrm>
          <a:prstGeom prst="rect">
            <a:avLst/>
          </a:prstGeom>
        </p:spPr>
      </p:pic>
      <p:pic>
        <p:nvPicPr>
          <p:cNvPr id="7" name="Picture 6">
            <a:extLst>
              <a:ext uri="{FF2B5EF4-FFF2-40B4-BE49-F238E27FC236}">
                <a16:creationId xmlns:a16="http://schemas.microsoft.com/office/drawing/2014/main" id="{5980C572-E1BB-CF3C-34BD-D02DEFEEE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757" y="1244177"/>
            <a:ext cx="4626627" cy="48679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753" y="690801"/>
            <a:ext cx="10213411" cy="1325563"/>
          </a:xfrm>
        </p:spPr>
        <p:txBody>
          <a:bodyPr>
            <a:normAutofit/>
          </a:bodyPr>
          <a:lstStyle/>
          <a:p>
            <a:pPr algn="ctr"/>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half" idx="1"/>
          </p:nvPr>
        </p:nvSpPr>
        <p:spPr>
          <a:xfrm>
            <a:off x="934755" y="2126251"/>
            <a:ext cx="10322490" cy="305952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The Cyberbullying Detection System successfully demonstrates the use of Machine Learning and NLP to automatically identify and manage abusive text content. By integrating a Logistic Regression model with FastAPI, the system efficiently detects cyberbullying, issues warnings, blocks repeat offenders, and maintains structured records. The inclusion of an admin dashboard and PDF report generation enhances monitoring and documentation. Overall, the project provides an effective, scalable, and practical solution for improving online safety and reducing manual moderation efforts.</a:t>
            </a:r>
          </a:p>
        </p:txBody>
      </p:sp>
      <p:sp>
        <p:nvSpPr>
          <p:cNvPr id="6" name="Slide Number Placeholder 5"/>
          <p:cNvSpPr>
            <a:spLocks noGrp="1"/>
          </p:cNvSpPr>
          <p:nvPr>
            <p:ph type="sldNum" sz="quarter" idx="12"/>
          </p:nvPr>
        </p:nvSpPr>
        <p:spPr/>
        <p:txBody>
          <a:bodyPr/>
          <a:lstStyle/>
          <a:p>
            <a:fld id="{330EA680-D336-4FF7-8B7A-9848BB0A1C32}"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087676" y="1544313"/>
            <a:ext cx="9484291" cy="4618494"/>
          </a:xfrm>
        </p:spPr>
        <p:txBody>
          <a:bodyPr vert="horz" lIns="91440" tIns="45720" rIns="91440" bIns="45720" rtlCol="0" anchor="t">
            <a:noAutofit/>
          </a:bodyPr>
          <a:lstStyle/>
          <a:p>
            <a:pPr marL="0" indent="0">
              <a:lnSpc>
                <a:spcPct val="100000"/>
              </a:lnSpc>
              <a:buNone/>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Wikipedia – Cyberbullying: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2"/>
              </a:rPr>
              <a:t>https://en.wikipedia.org/wiki/Cyberbullying</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SkillDzire – Dataset Source for Cyberbullying Project</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3"/>
              </a:rPr>
              <a:t>https://skilldzire.com/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(Primary dataset provider used for model training and testing.) </a:t>
            </a:r>
          </a:p>
          <a:p>
            <a:pPr marL="0" indent="0">
              <a:lnSpc>
                <a:spcPct val="100000"/>
              </a:lnSpc>
              <a:buNone/>
            </a:pPr>
            <a:r>
              <a:rPr lang="en-IN" sz="2400" dirty="0">
                <a:latin typeface="Times New Roman" panose="02020603050405020304" pitchFamily="18" charset="0"/>
                <a:cs typeface="Times New Roman" panose="02020603050405020304" pitchFamily="18" charset="0"/>
              </a:rPr>
              <a:t>• Scikit-Learn Documentation: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4"/>
              </a:rPr>
              <a:t>https://scikit-learn.org/</a:t>
            </a:r>
            <a:r>
              <a:rPr lang="en-IN" sz="2400" dirty="0">
                <a:latin typeface="Times New Roman" panose="02020603050405020304" pitchFamily="18" charset="0"/>
                <a:cs typeface="Times New Roman" panose="02020603050405020304" pitchFamily="18" charset="0"/>
              </a:rPr>
              <a:t> </a:t>
            </a:r>
          </a:p>
          <a:p>
            <a:pPr marL="0" indent="0">
              <a:lnSpc>
                <a:spcPct val="100000"/>
              </a:lnSpc>
              <a:buNone/>
            </a:pPr>
            <a:r>
              <a:rPr lang="en-IN" sz="2400" dirty="0">
                <a:latin typeface="Times New Roman" panose="02020603050405020304" pitchFamily="18" charset="0"/>
                <a:cs typeface="Times New Roman" panose="02020603050405020304" pitchFamily="18" charset="0"/>
              </a:rPr>
              <a:t>• TutorialsPoint – Machine Learning &amp; NLP Basics: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5"/>
              </a:rPr>
              <a:t>https://www.tutorialspoint.com/</a:t>
            </a:r>
            <a:r>
              <a:rPr lang="en-IN" sz="2400"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84288" cy="2671219"/>
          </a:xfrm>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Thank You</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16</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TotalTime>
  <Words>898</Words>
  <Application>Microsoft Macintosh PowerPoint</Application>
  <PresentationFormat>Widescreen</PresentationFormat>
  <Paragraphs>77</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Aparajita</vt:lpstr>
      <vt:lpstr>Arial</vt:lpstr>
      <vt:lpstr>Calibri</vt:lpstr>
      <vt:lpstr>Calibri Light</vt:lpstr>
      <vt:lpstr>Times New Roman</vt:lpstr>
      <vt:lpstr>Wingdings</vt:lpstr>
      <vt:lpstr>Office Theme</vt:lpstr>
      <vt:lpstr> </vt:lpstr>
      <vt:lpstr>Contents</vt:lpstr>
      <vt:lpstr>                        CERTIFICATE </vt:lpstr>
      <vt:lpstr>                           ABSTRACT</vt:lpstr>
      <vt:lpstr>PROBLEM STATEMENT</vt:lpstr>
      <vt:lpstr>LIMITATIONS IN EXISTING SYSTEM</vt:lpstr>
      <vt:lpstr>   PROPOSED METHODOLOGY/ARCHITECTURE [Work Flow Diagram ] </vt:lpstr>
      <vt:lpstr>FLOW GRAPH:</vt:lpstr>
      <vt:lpstr>PROPOSED SYSTEM</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SOWJANYA REDDY</cp:lastModifiedBy>
  <cp:revision>969</cp:revision>
  <dcterms:created xsi:type="dcterms:W3CDTF">2022-08-17T05:25:00Z</dcterms:created>
  <dcterms:modified xsi:type="dcterms:W3CDTF">2025-12-23T16:55:49Z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